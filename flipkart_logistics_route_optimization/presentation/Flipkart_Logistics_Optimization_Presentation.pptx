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5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16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17.xml" ContentType="application/vnd.openxmlformats-officedocument.presentationml.notesSlide+xml"/>
  <Override PartName="/ppt/charts/chart20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73" r:id="rId10"/>
    <p:sldId id="263" r:id="rId11"/>
    <p:sldId id="264" r:id="rId12"/>
    <p:sldId id="278" r:id="rId13"/>
    <p:sldId id="272" r:id="rId14"/>
    <p:sldId id="274" r:id="rId15"/>
    <p:sldId id="265" r:id="rId16"/>
    <p:sldId id="275" r:id="rId17"/>
    <p:sldId id="266" r:id="rId18"/>
    <p:sldId id="276" r:id="rId19"/>
    <p:sldId id="267" r:id="rId20"/>
    <p:sldId id="268" r:id="rId21"/>
    <p:sldId id="269" r:id="rId22"/>
    <p:sldId id="270" r:id="rId23"/>
    <p:sldId id="271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889" autoAdjust="0"/>
  </p:normalViewPr>
  <p:slideViewPr>
    <p:cSldViewPr snapToGrid="0" snapToObjects="1">
      <p:cViewPr varScale="1">
        <p:scale>
          <a:sx n="74" d="100"/>
          <a:sy n="74" d="100"/>
        </p:scale>
        <p:origin x="3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F7-46AF-A6FC-1DF7DC9D8809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F7-46AF-A6FC-1DF7DC9D88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F7-46AF-A6FC-1DF7DC9D88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F7-46AF-A6FC-1DF7DC9D88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Unique Orders</c:v>
                </c:pt>
                <c:pt idx="1">
                  <c:v>Duplicates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F7-46AF-A6FC-1DF7DC9D88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D1-47B9-B170-6BC99EC6D8EB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D1-47B9-B170-6BC99EC6D8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On-Time</c:v>
                </c:pt>
                <c:pt idx="1">
                  <c:v>Delayed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218</c:v>
                </c:pt>
                <c:pt idx="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D1-47B9-B170-6BC99EC6D8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0155457189219936"/>
          <c:y val="0.14657464525968897"/>
          <c:w val="0.74533529226273121"/>
          <c:h val="0.7297001162340178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B52-44F1-A98E-F11AAED18546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52-44F1-A98E-F11AAED18546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B52-44F1-A98E-F11AAED18546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B52-44F1-A98E-F11AAED18546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B52-44F1-A98E-F11AAED18546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B52-44F1-A98E-F11AAED18546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B52-44F1-A98E-F11AAED18546}"/>
              </c:ext>
            </c:extLst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B52-44F1-A98E-F11AAED185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RT_13</c:v>
                </c:pt>
                <c:pt idx="1">
                  <c:v>RT_05</c:v>
                </c:pt>
                <c:pt idx="2">
                  <c:v>RT_14</c:v>
                </c:pt>
                <c:pt idx="3">
                  <c:v>RT_09</c:v>
                </c:pt>
                <c:pt idx="4">
                  <c:v>RT_02</c:v>
                </c:pt>
                <c:pt idx="5">
                  <c:v>RT_18</c:v>
                </c:pt>
                <c:pt idx="6">
                  <c:v>RT_01</c:v>
                </c:pt>
                <c:pt idx="7">
                  <c:v>RT_06</c:v>
                </c:pt>
                <c:pt idx="8">
                  <c:v>RT_16</c:v>
                </c:pt>
                <c:pt idx="9">
                  <c:v>RT_12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54.5</c:v>
                </c:pt>
                <c:pt idx="1">
                  <c:v>40</c:v>
                </c:pt>
                <c:pt idx="2">
                  <c:v>35.299999999999997</c:v>
                </c:pt>
                <c:pt idx="3">
                  <c:v>31.3</c:v>
                </c:pt>
                <c:pt idx="4">
                  <c:v>29.4</c:v>
                </c:pt>
                <c:pt idx="5">
                  <c:v>28.6</c:v>
                </c:pt>
                <c:pt idx="6">
                  <c:v>30.8</c:v>
                </c:pt>
                <c:pt idx="7">
                  <c:v>33.299999999999997</c:v>
                </c:pt>
                <c:pt idx="8">
                  <c:v>30</c:v>
                </c:pt>
                <c:pt idx="9">
                  <c:v>27.8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B52-44F1-A98E-F11AAED185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ABA-49B1-82D9-A98C6FD5D9E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ABA-49B1-82D9-A98C6FD5D9E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ABA-49B1-82D9-A98C6FD5D9E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ABA-49B1-82D9-A98C6FD5D9E4}"/>
              </c:ext>
            </c:extLst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ABA-49B1-82D9-A98C6FD5D9E4}"/>
              </c:ext>
            </c:extLst>
          </c:dPt>
          <c:dPt>
            <c:idx val="5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ABA-49B1-82D9-A98C6FD5D9E4}"/>
              </c:ext>
            </c:extLst>
          </c:dPt>
          <c:dPt>
            <c:idx val="6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ABA-49B1-82D9-A98C6FD5D9E4}"/>
              </c:ext>
            </c:extLst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ABA-49B1-82D9-A98C6FD5D9E4}"/>
              </c:ext>
            </c:extLst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ABA-49B1-82D9-A98C6FD5D9E4}"/>
              </c:ext>
            </c:extLst>
          </c:dPt>
          <c:dPt>
            <c:idx val="9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ABA-49B1-82D9-A98C6FD5D9E4}"/>
              </c:ext>
            </c:extLst>
          </c:dPt>
          <c:dPt>
            <c:idx val="1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3ABA-49B1-82D9-A98C6FD5D9E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RT_19</c:v>
                </c:pt>
                <c:pt idx="1">
                  <c:v>RT_12</c:v>
                </c:pt>
                <c:pt idx="2">
                  <c:v>RT_10</c:v>
                </c:pt>
                <c:pt idx="3">
                  <c:v>RT_15</c:v>
                </c:pt>
                <c:pt idx="4">
                  <c:v>RT_02</c:v>
                </c:pt>
                <c:pt idx="5">
                  <c:v>RT_07</c:v>
                </c:pt>
                <c:pt idx="6">
                  <c:v>RT_05</c:v>
                </c:pt>
                <c:pt idx="7">
                  <c:v>RT_11</c:v>
                </c:pt>
                <c:pt idx="8">
                  <c:v>RT_20</c:v>
                </c:pt>
                <c:pt idx="9">
                  <c:v>RT_09</c:v>
                </c:pt>
                <c:pt idx="10">
                  <c:v>RT_04</c:v>
                </c:pt>
                <c:pt idx="11">
                  <c:v>RT_06</c:v>
                </c:pt>
                <c:pt idx="12">
                  <c:v>RT_18</c:v>
                </c:pt>
                <c:pt idx="13">
                  <c:v>RT_16</c:v>
                </c:pt>
                <c:pt idx="14">
                  <c:v>RT_08</c:v>
                </c:pt>
                <c:pt idx="15">
                  <c:v>RT_01</c:v>
                </c:pt>
                <c:pt idx="16">
                  <c:v>RT_17</c:v>
                </c:pt>
                <c:pt idx="17">
                  <c:v>RT_03</c:v>
                </c:pt>
                <c:pt idx="18">
                  <c:v>RT_14</c:v>
                </c:pt>
                <c:pt idx="19">
                  <c:v>RT_13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7.48</c:v>
                </c:pt>
                <c:pt idx="1">
                  <c:v>4.9800000000000004</c:v>
                </c:pt>
                <c:pt idx="2">
                  <c:v>4.9400000000000004</c:v>
                </c:pt>
                <c:pt idx="3">
                  <c:v>4.87</c:v>
                </c:pt>
                <c:pt idx="4">
                  <c:v>3.73</c:v>
                </c:pt>
                <c:pt idx="5">
                  <c:v>2.87</c:v>
                </c:pt>
                <c:pt idx="6">
                  <c:v>2.46</c:v>
                </c:pt>
                <c:pt idx="7">
                  <c:v>2.2400000000000002</c:v>
                </c:pt>
                <c:pt idx="8">
                  <c:v>2.2200000000000002</c:v>
                </c:pt>
                <c:pt idx="9">
                  <c:v>2.13</c:v>
                </c:pt>
                <c:pt idx="10">
                  <c:v>1.97</c:v>
                </c:pt>
                <c:pt idx="11">
                  <c:v>1.92</c:v>
                </c:pt>
                <c:pt idx="12">
                  <c:v>1.84</c:v>
                </c:pt>
                <c:pt idx="13">
                  <c:v>1.83</c:v>
                </c:pt>
                <c:pt idx="14">
                  <c:v>1.64</c:v>
                </c:pt>
                <c:pt idx="15">
                  <c:v>1.6</c:v>
                </c:pt>
                <c:pt idx="16">
                  <c:v>1.27</c:v>
                </c:pt>
                <c:pt idx="17">
                  <c:v>1.1299999999999999</c:v>
                </c:pt>
                <c:pt idx="18">
                  <c:v>1</c:v>
                </c:pt>
                <c:pt idx="19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3ABA-49B1-82D9-A98C6FD5D9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dirty="0"/>
                  <a:t>Efficiency Ratio%</a:t>
                </a:r>
              </a:p>
            </c:rich>
          </c:tx>
          <c:layout>
            <c:manualLayout>
              <c:xMode val="edge"/>
              <c:yMode val="edge"/>
              <c:x val="0.6942085786573976"/>
              <c:y val="0.92732982785269091"/>
            </c:manualLayout>
          </c:layout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223912102585998"/>
          <c:y val="5.8301469866779684E-2"/>
          <c:w val="0.8489835061309724"/>
          <c:h val="0.502672128939688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Chennai</c:v>
                </c:pt>
                <c:pt idx="1">
                  <c:v>Bengaluru</c:v>
                </c:pt>
                <c:pt idx="2">
                  <c:v>Delhi</c:v>
                </c:pt>
                <c:pt idx="3">
                  <c:v>Mumbai</c:v>
                </c:pt>
                <c:pt idx="4">
                  <c:v>Ahmedabad</c:v>
                </c:pt>
                <c:pt idx="5">
                  <c:v>Jaipur</c:v>
                </c:pt>
                <c:pt idx="6">
                  <c:v>Pune</c:v>
                </c:pt>
                <c:pt idx="7">
                  <c:v>Hyderabad</c:v>
                </c:pt>
                <c:pt idx="8">
                  <c:v>Lucknow</c:v>
                </c:pt>
                <c:pt idx="9">
                  <c:v>Kolkata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</c:v>
                </c:pt>
                <c:pt idx="1">
                  <c:v>38</c:v>
                </c:pt>
                <c:pt idx="2">
                  <c:v>27</c:v>
                </c:pt>
                <c:pt idx="3">
                  <c:v>25</c:v>
                </c:pt>
                <c:pt idx="4">
                  <c:v>31</c:v>
                </c:pt>
                <c:pt idx="5">
                  <c:v>29</c:v>
                </c:pt>
                <c:pt idx="6">
                  <c:v>26</c:v>
                </c:pt>
                <c:pt idx="7">
                  <c:v>43</c:v>
                </c:pt>
                <c:pt idx="8">
                  <c:v>24</c:v>
                </c:pt>
                <c:pt idx="9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A-4E2B-B6BE-08320B1D33D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859122495"/>
        <c:axId val="85912585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Delayed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Chennai</c:v>
                </c:pt>
                <c:pt idx="1">
                  <c:v>Bengaluru</c:v>
                </c:pt>
                <c:pt idx="2">
                  <c:v>Delhi</c:v>
                </c:pt>
                <c:pt idx="3">
                  <c:v>Mumbai</c:v>
                </c:pt>
                <c:pt idx="4">
                  <c:v>Ahmedabad</c:v>
                </c:pt>
                <c:pt idx="5">
                  <c:v>Jaipur</c:v>
                </c:pt>
                <c:pt idx="6">
                  <c:v>Pune</c:v>
                </c:pt>
                <c:pt idx="7">
                  <c:v>Hyderabad</c:v>
                </c:pt>
                <c:pt idx="8">
                  <c:v>Lucknow</c:v>
                </c:pt>
                <c:pt idx="9">
                  <c:v>Kolkata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9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6A-4E2B-B6BE-08320B1D3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9122495"/>
        <c:axId val="859125855"/>
      </c:lineChart>
      <c:catAx>
        <c:axId val="859122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125855"/>
        <c:crosses val="autoZero"/>
        <c:auto val="1"/>
        <c:lblAlgn val="ctr"/>
        <c:lblOffset val="100"/>
        <c:noMultiLvlLbl val="0"/>
      </c:catAx>
      <c:valAx>
        <c:axId val="859125855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122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285751561756535"/>
          <c:y val="4.1905115434982113E-2"/>
          <c:w val="0.68560421175423247"/>
          <c:h val="0.7920103937884740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1"/>
                  </a:gs>
                  <a:gs pos="75000">
                    <a:schemeClr val="accent1">
                      <a:lumMod val="60000"/>
                      <a:lumOff val="40000"/>
                    </a:schemeClr>
                  </a:gs>
                  <a:gs pos="51000">
                    <a:schemeClr val="accent1">
                      <a:alpha val="75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4880-404D-8D9F-87150D898308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2"/>
                  </a:gs>
                  <a:gs pos="75000">
                    <a:schemeClr val="accent2">
                      <a:lumMod val="60000"/>
                      <a:lumOff val="40000"/>
                    </a:schemeClr>
                  </a:gs>
                  <a:gs pos="51000">
                    <a:schemeClr val="accent2">
                      <a:alpha val="75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880-404D-8D9F-87150D898308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3"/>
                  </a:gs>
                  <a:gs pos="75000">
                    <a:schemeClr val="accent3">
                      <a:lumMod val="60000"/>
                      <a:lumOff val="40000"/>
                    </a:schemeClr>
                  </a:gs>
                  <a:gs pos="51000">
                    <a:schemeClr val="accent3">
                      <a:alpha val="75000"/>
                    </a:schemeClr>
                  </a:gs>
                  <a:gs pos="100000">
                    <a:schemeClr val="accent3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880-404D-8D9F-87150D898308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chemeClr val="accent4"/>
                  </a:gs>
                  <a:gs pos="75000">
                    <a:schemeClr val="accent4">
                      <a:lumMod val="60000"/>
                      <a:lumOff val="40000"/>
                    </a:schemeClr>
                  </a:gs>
                  <a:gs pos="51000">
                    <a:schemeClr val="accent4">
                      <a:alpha val="75000"/>
                    </a:schemeClr>
                  </a:gs>
                  <a:gs pos="100000">
                    <a:schemeClr val="accent4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880-404D-8D9F-87150D898308}"/>
              </c:ext>
            </c:extLst>
          </c:dPt>
          <c:dPt>
            <c:idx val="4"/>
            <c:invertIfNegative val="0"/>
            <c:bubble3D val="0"/>
            <c:spPr>
              <a:gradFill flip="none" rotWithShape="1">
                <a:gsLst>
                  <a:gs pos="0">
                    <a:schemeClr val="accent5"/>
                  </a:gs>
                  <a:gs pos="75000">
                    <a:schemeClr val="accent5">
                      <a:lumMod val="60000"/>
                      <a:lumOff val="40000"/>
                    </a:schemeClr>
                  </a:gs>
                  <a:gs pos="51000">
                    <a:schemeClr val="accent5">
                      <a:alpha val="75000"/>
                    </a:schemeClr>
                  </a:gs>
                  <a:gs pos="100000">
                    <a:schemeClr val="accent5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880-404D-8D9F-87150D898308}"/>
              </c:ext>
            </c:extLst>
          </c:dPt>
          <c:dPt>
            <c:idx val="5"/>
            <c:invertIfNegative val="0"/>
            <c:bubble3D val="0"/>
            <c:spPr>
              <a:gradFill flip="none" rotWithShape="1">
                <a:gsLst>
                  <a:gs pos="0">
                    <a:schemeClr val="accent6"/>
                  </a:gs>
                  <a:gs pos="75000">
                    <a:schemeClr val="accent6">
                      <a:lumMod val="60000"/>
                      <a:lumOff val="40000"/>
                    </a:schemeClr>
                  </a:gs>
                  <a:gs pos="51000">
                    <a:schemeClr val="accent6">
                      <a:alpha val="75000"/>
                    </a:schemeClr>
                  </a:gs>
                  <a:gs pos="100000">
                    <a:schemeClr val="accent6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880-404D-8D9F-87150D898308}"/>
              </c:ext>
            </c:extLst>
          </c:dPt>
          <c:dPt>
            <c:idx val="6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lumMod val="60000"/>
                    </a:schemeClr>
                  </a:gs>
                  <a:gs pos="75000">
                    <a:schemeClr val="accent1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1">
                      <a:lumMod val="60000"/>
                      <a:alpha val="75000"/>
                    </a:schemeClr>
                  </a:gs>
                  <a:gs pos="100000">
                    <a:schemeClr val="accent1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880-404D-8D9F-87150D898308}"/>
              </c:ext>
            </c:extLst>
          </c:dPt>
          <c:dPt>
            <c:idx val="7"/>
            <c:invertIfNegative val="0"/>
            <c:bubble3D val="0"/>
            <c:spPr>
              <a:gradFill flip="none" rotWithShape="1">
                <a:gsLst>
                  <a:gs pos="0">
                    <a:schemeClr val="accent2">
                      <a:lumMod val="60000"/>
                    </a:schemeClr>
                  </a:gs>
                  <a:gs pos="75000">
                    <a:schemeClr val="accent2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2">
                      <a:lumMod val="60000"/>
                      <a:alpha val="75000"/>
                    </a:schemeClr>
                  </a:gs>
                  <a:gs pos="100000">
                    <a:schemeClr val="accent2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880-404D-8D9F-87150D898308}"/>
              </c:ext>
            </c:extLst>
          </c:dPt>
          <c:dPt>
            <c:idx val="8"/>
            <c:invertIfNegative val="0"/>
            <c:bubble3D val="0"/>
            <c:spPr>
              <a:gradFill flip="none" rotWithShape="1">
                <a:gsLst>
                  <a:gs pos="0">
                    <a:schemeClr val="accent3">
                      <a:lumMod val="60000"/>
                    </a:schemeClr>
                  </a:gs>
                  <a:gs pos="75000">
                    <a:schemeClr val="accent3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3">
                      <a:lumMod val="60000"/>
                      <a:alpha val="75000"/>
                    </a:schemeClr>
                  </a:gs>
                  <a:gs pos="100000">
                    <a:schemeClr val="accent3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880-404D-8D9F-87150D898308}"/>
              </c:ext>
            </c:extLst>
          </c:dPt>
          <c:dPt>
            <c:idx val="9"/>
            <c:invertIfNegative val="0"/>
            <c:bubble3D val="0"/>
            <c:spPr>
              <a:gradFill flip="none" rotWithShape="1">
                <a:gsLst>
                  <a:gs pos="0">
                    <a:schemeClr val="accent4">
                      <a:lumMod val="60000"/>
                    </a:schemeClr>
                  </a:gs>
                  <a:gs pos="75000">
                    <a:schemeClr val="accent4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4">
                      <a:lumMod val="60000"/>
                      <a:alpha val="75000"/>
                    </a:schemeClr>
                  </a:gs>
                  <a:gs pos="100000">
                    <a:schemeClr val="accent4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880-404D-8D9F-87150D89830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Chennai</c:v>
                </c:pt>
                <c:pt idx="1">
                  <c:v>Mumbai</c:v>
                </c:pt>
                <c:pt idx="2">
                  <c:v>Delhi</c:v>
                </c:pt>
                <c:pt idx="3">
                  <c:v>Pune</c:v>
                </c:pt>
                <c:pt idx="4">
                  <c:v>Jaipur</c:v>
                </c:pt>
                <c:pt idx="5">
                  <c:v>Bengaluru</c:v>
                </c:pt>
                <c:pt idx="6">
                  <c:v>Ahmedabad</c:v>
                </c:pt>
                <c:pt idx="7">
                  <c:v>Lucknow</c:v>
                </c:pt>
                <c:pt idx="8">
                  <c:v>Kolkata</c:v>
                </c:pt>
                <c:pt idx="9">
                  <c:v>Hyderabad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63.3</c:v>
                </c:pt>
                <c:pt idx="1">
                  <c:v>64</c:v>
                </c:pt>
                <c:pt idx="2">
                  <c:v>66.7</c:v>
                </c:pt>
                <c:pt idx="3">
                  <c:v>69.2</c:v>
                </c:pt>
                <c:pt idx="4">
                  <c:v>72.400000000000006</c:v>
                </c:pt>
                <c:pt idx="5">
                  <c:v>73.7</c:v>
                </c:pt>
                <c:pt idx="6">
                  <c:v>74.2</c:v>
                </c:pt>
                <c:pt idx="7">
                  <c:v>75</c:v>
                </c:pt>
                <c:pt idx="8">
                  <c:v>77.8</c:v>
                </c:pt>
                <c:pt idx="9">
                  <c:v>83.7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4880-404D-8D9F-87150D8983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overlap val="-58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F4B-48D0-898C-A788CE8AC294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F4B-48D0-898C-A788CE8AC294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F4B-48D0-898C-A788CE8AC2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Performer
(≥90%)</c:v>
                </c:pt>
                <c:pt idx="1">
                  <c:v>Stable
(80-90%)</c:v>
                </c:pt>
                <c:pt idx="2">
                  <c:v>Needs Training
(&lt;80%)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18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F4B-48D0-898C-A788CE8AC2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E4-42B9-84CB-32E191EF553B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E4-42B9-84CB-32E191EF553B}"/>
              </c:ext>
            </c:extLst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E4-42B9-84CB-32E191EF553B}"/>
              </c:ext>
            </c:extLst>
          </c:dPt>
          <c:dLbls>
            <c:dLbl>
              <c:idx val="0"/>
              <c:numFmt formatCode="#,##0_);\(#,##0\)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9E4-42B9-84CB-32E191EF553B}"/>
                </c:ext>
              </c:extLst>
            </c:dLbl>
            <c:dLbl>
              <c:idx val="1"/>
              <c:numFmt formatCode="#,##0_);\(#,##0\)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9E4-42B9-84CB-32E191EF553B}"/>
                </c:ext>
              </c:extLst>
            </c:dLbl>
            <c:dLbl>
              <c:idx val="2"/>
              <c:numFmt formatCode="#,##0_);\(#,##0\)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9E4-42B9-84CB-32E191EF553B}"/>
                </c:ext>
              </c:extLst>
            </c:dLbl>
            <c:numFmt formatCode="#,##0_);\(#,##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Traffic (56.4%)</c:v>
                </c:pt>
                <c:pt idx="1">
                  <c:v>Weather (28.0%)</c:v>
                </c:pt>
                <c:pt idx="2">
                  <c:v>Technical (15.6%)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387</c:v>
                </c:pt>
                <c:pt idx="1">
                  <c:v>192</c:v>
                </c:pt>
                <c:pt idx="2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E4-42B9-84CB-32E191EF55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861879596131563"/>
          <c:y val="8.9689780176175099E-2"/>
          <c:w val="0.62752624671916013"/>
          <c:h val="0.786126950763753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2B5-4DAF-97B0-02ACA965FF84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92B5-4DAF-97B0-02ACA965FF84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92B5-4DAF-97B0-02ACA965FF84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92B5-4DAF-97B0-02ACA965FF84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92B5-4DAF-97B0-02ACA965FF84}"/>
              </c:ext>
            </c:extLst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92B5-4DAF-97B0-02ACA965FF8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Hyderabad</c:v>
                </c:pt>
                <c:pt idx="1">
                  <c:v>Ahmedabad</c:v>
                </c:pt>
                <c:pt idx="2">
                  <c:v>Pune</c:v>
                </c:pt>
                <c:pt idx="3">
                  <c:v>Lucknow</c:v>
                </c:pt>
                <c:pt idx="4">
                  <c:v>Mumbai</c:v>
                </c:pt>
                <c:pt idx="5">
                  <c:v>Bengaluru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76.099999999999994</c:v>
                </c:pt>
                <c:pt idx="1">
                  <c:v>69.7</c:v>
                </c:pt>
                <c:pt idx="2">
                  <c:v>69.400000000000006</c:v>
                </c:pt>
                <c:pt idx="3">
                  <c:v>69.2</c:v>
                </c:pt>
                <c:pt idx="4">
                  <c:v>68.599999999999994</c:v>
                </c:pt>
                <c:pt idx="5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92B5-4DAF-97B0-02ACA965FF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94-492E-9F73-EC9F0A206C81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94-492E-9F73-EC9F0A206C8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794-492E-9F73-EC9F0A206C8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794-492E-9F73-EC9F0A206C8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On-Time (72.7%)</c:v>
                </c:pt>
                <c:pt idx="1">
                  <c:v>Delayed (27.3%)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218</c:v>
                </c:pt>
                <c:pt idx="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794-492E-9F73-EC9F0A206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(days)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A6-48F6-BAA7-626750F5F614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A6-48F6-BAA7-626750F5F614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A6-48F6-BAA7-626750F5F614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A6-48F6-BAA7-626750F5F614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A6-48F6-BAA7-626750F5F614}"/>
              </c:ext>
            </c:extLst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BA6-48F6-BAA7-626750F5F614}"/>
              </c:ext>
            </c:extLst>
          </c:dPt>
          <c:cat>
            <c:strRef>
              <c:f>Sheet1!$A$2:$A$7</c:f>
              <c:strCache>
                <c:ptCount val="6"/>
                <c:pt idx="0">
                  <c:v>Ahmedabad</c:v>
                </c:pt>
                <c:pt idx="1">
                  <c:v>Pune</c:v>
                </c:pt>
                <c:pt idx="2">
                  <c:v>Lucknow</c:v>
                </c:pt>
                <c:pt idx="3">
                  <c:v>Bengaluru</c:v>
                </c:pt>
                <c:pt idx="4">
                  <c:v>Mumbai</c:v>
                </c:pt>
                <c:pt idx="5">
                  <c:v>Hyderabad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0.61</c:v>
                </c:pt>
                <c:pt idx="1">
                  <c:v>0.56000000000000005</c:v>
                </c:pt>
                <c:pt idx="2">
                  <c:v>0.54</c:v>
                </c:pt>
                <c:pt idx="3">
                  <c:v>0.5</c:v>
                </c:pt>
                <c:pt idx="4">
                  <c:v>0.47</c:v>
                </c:pt>
                <c:pt idx="5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BA6-48F6-BAA7-626750F5F6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0000000000000009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dirty="0"/>
                  <a:t>Days</a:t>
                </a:r>
              </a:p>
            </c:rich>
          </c:tx>
          <c:layout>
            <c:manualLayout>
              <c:xMode val="edge"/>
              <c:yMode val="edge"/>
              <c:x val="0.873396828615284"/>
              <c:y val="0.80609010447910889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Hyderabad</c:v>
                </c:pt>
                <c:pt idx="1">
                  <c:v>Kolkata</c:v>
                </c:pt>
                <c:pt idx="2">
                  <c:v>Lucknow</c:v>
                </c:pt>
                <c:pt idx="3">
                  <c:v>Ahmedabad</c:v>
                </c:pt>
                <c:pt idx="4">
                  <c:v>Bengaluru</c:v>
                </c:pt>
                <c:pt idx="5">
                  <c:v>Jaipur</c:v>
                </c:pt>
                <c:pt idx="6">
                  <c:v>Pune</c:v>
                </c:pt>
                <c:pt idx="7">
                  <c:v>Delhi</c:v>
                </c:pt>
                <c:pt idx="8">
                  <c:v>Mumbai</c:v>
                </c:pt>
                <c:pt idx="9">
                  <c:v>Chennai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</c:v>
                </c:pt>
                <c:pt idx="1">
                  <c:v>21</c:v>
                </c:pt>
                <c:pt idx="2">
                  <c:v>18</c:v>
                </c:pt>
                <c:pt idx="3">
                  <c:v>23</c:v>
                </c:pt>
                <c:pt idx="4">
                  <c:v>28</c:v>
                </c:pt>
                <c:pt idx="5">
                  <c:v>21</c:v>
                </c:pt>
                <c:pt idx="6">
                  <c:v>18</c:v>
                </c:pt>
                <c:pt idx="7">
                  <c:v>18</c:v>
                </c:pt>
                <c:pt idx="8">
                  <c:v>16</c:v>
                </c:pt>
                <c:pt idx="9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25-4340-B3E8-10BF3EF020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Delayed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Hyderabad</c:v>
                </c:pt>
                <c:pt idx="1">
                  <c:v>Kolkata</c:v>
                </c:pt>
                <c:pt idx="2">
                  <c:v>Lucknow</c:v>
                </c:pt>
                <c:pt idx="3">
                  <c:v>Ahmedabad</c:v>
                </c:pt>
                <c:pt idx="4">
                  <c:v>Bengaluru</c:v>
                </c:pt>
                <c:pt idx="5">
                  <c:v>Jaipur</c:v>
                </c:pt>
                <c:pt idx="6">
                  <c:v>Pune</c:v>
                </c:pt>
                <c:pt idx="7">
                  <c:v>Delhi</c:v>
                </c:pt>
                <c:pt idx="8">
                  <c:v>Mumbai</c:v>
                </c:pt>
                <c:pt idx="9">
                  <c:v>Chennai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8</c:v>
                </c:pt>
                <c:pt idx="6">
                  <c:v>8</c:v>
                </c:pt>
                <c:pt idx="7">
                  <c:v>9</c:v>
                </c:pt>
                <c:pt idx="8">
                  <c:v>9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25-4340-B3E8-10BF3EF020F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BE-4155-A212-FB549181A203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BE-4155-A212-FB549181A203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BE-4155-A212-FB549181A203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1BE-4155-A212-FB549181A203}"/>
              </c:ext>
            </c:extLst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1BE-4155-A212-FB549181A203}"/>
              </c:ext>
            </c:extLst>
          </c:dPt>
          <c:dPt>
            <c:idx val="5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1BE-4155-A212-FB549181A203}"/>
              </c:ext>
            </c:extLst>
          </c:dPt>
          <c:dPt>
            <c:idx val="6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1BE-4155-A212-FB549181A203}"/>
              </c:ext>
            </c:extLst>
          </c:dPt>
          <c:dPt>
            <c:idx val="7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1BE-4155-A212-FB549181A203}"/>
              </c:ext>
            </c:extLst>
          </c:dPt>
          <c:dPt>
            <c:idx val="8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1BE-4155-A212-FB549181A203}"/>
              </c:ext>
            </c:extLst>
          </c:dPt>
          <c:dPt>
            <c:idx val="9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1BE-4155-A212-FB549181A203}"/>
              </c:ext>
            </c:extLst>
          </c:dPt>
          <c:dPt>
            <c:idx val="1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1BE-4155-A212-FB549181A203}"/>
              </c:ext>
            </c:extLst>
          </c:dPt>
          <c:dPt>
            <c:idx val="1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41BE-4155-A212-FB549181A203}"/>
              </c:ext>
            </c:extLst>
          </c:dPt>
          <c:dPt>
            <c:idx val="1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41BE-4155-A212-FB549181A203}"/>
              </c:ext>
            </c:extLst>
          </c:dPt>
          <c:dPt>
            <c:idx val="1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41BE-4155-A212-FB549181A203}"/>
              </c:ext>
            </c:extLst>
          </c:dPt>
          <c:dPt>
            <c:idx val="1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41BE-4155-A212-FB549181A203}"/>
              </c:ext>
            </c:extLst>
          </c:dPt>
          <c:dPt>
            <c:idx val="1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41BE-4155-A212-FB549181A203}"/>
              </c:ext>
            </c:extLst>
          </c:dPt>
          <c:dPt>
            <c:idx val="1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41BE-4155-A212-FB549181A203}"/>
              </c:ext>
            </c:extLst>
          </c:dPt>
          <c:dPt>
            <c:idx val="17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41BE-4155-A212-FB549181A203}"/>
              </c:ext>
            </c:extLst>
          </c:dPt>
          <c:dPt>
            <c:idx val="18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41BE-4155-A212-FB549181A203}"/>
              </c:ext>
            </c:extLst>
          </c:dPt>
          <c:dPt>
            <c:idx val="19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41BE-4155-A212-FB549181A2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RT_19</c:v>
                </c:pt>
                <c:pt idx="1">
                  <c:v>RT_12</c:v>
                </c:pt>
                <c:pt idx="2">
                  <c:v>RT_10</c:v>
                </c:pt>
                <c:pt idx="3">
                  <c:v>RT_15</c:v>
                </c:pt>
                <c:pt idx="4">
                  <c:v>RT_02</c:v>
                </c:pt>
                <c:pt idx="5">
                  <c:v>RT_07</c:v>
                </c:pt>
                <c:pt idx="6">
                  <c:v>RT_05</c:v>
                </c:pt>
                <c:pt idx="7">
                  <c:v>RT_11</c:v>
                </c:pt>
                <c:pt idx="8">
                  <c:v>RT_20</c:v>
                </c:pt>
                <c:pt idx="9">
                  <c:v>RT_09</c:v>
                </c:pt>
                <c:pt idx="10">
                  <c:v>RT_04</c:v>
                </c:pt>
                <c:pt idx="11">
                  <c:v>RT_06</c:v>
                </c:pt>
                <c:pt idx="12">
                  <c:v>RT_18</c:v>
                </c:pt>
                <c:pt idx="13">
                  <c:v>RT_16</c:v>
                </c:pt>
                <c:pt idx="14">
                  <c:v>RT_08</c:v>
                </c:pt>
                <c:pt idx="15">
                  <c:v>RT_01</c:v>
                </c:pt>
                <c:pt idx="16">
                  <c:v>RT_17</c:v>
                </c:pt>
                <c:pt idx="17">
                  <c:v>RT_03</c:v>
                </c:pt>
                <c:pt idx="18">
                  <c:v>RT_14</c:v>
                </c:pt>
                <c:pt idx="19">
                  <c:v>RT_13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7.48</c:v>
                </c:pt>
                <c:pt idx="1">
                  <c:v>4.9800000000000004</c:v>
                </c:pt>
                <c:pt idx="2">
                  <c:v>4.9400000000000004</c:v>
                </c:pt>
                <c:pt idx="3">
                  <c:v>4.87</c:v>
                </c:pt>
                <c:pt idx="4">
                  <c:v>3.73</c:v>
                </c:pt>
                <c:pt idx="5">
                  <c:v>2.87</c:v>
                </c:pt>
                <c:pt idx="6">
                  <c:v>2.46</c:v>
                </c:pt>
                <c:pt idx="7">
                  <c:v>2.2400000000000002</c:v>
                </c:pt>
                <c:pt idx="8">
                  <c:v>2.2200000000000002</c:v>
                </c:pt>
                <c:pt idx="9">
                  <c:v>2.13</c:v>
                </c:pt>
                <c:pt idx="10">
                  <c:v>1.97</c:v>
                </c:pt>
                <c:pt idx="11">
                  <c:v>1.92</c:v>
                </c:pt>
                <c:pt idx="12">
                  <c:v>1.84</c:v>
                </c:pt>
                <c:pt idx="13">
                  <c:v>1.83</c:v>
                </c:pt>
                <c:pt idx="14">
                  <c:v>1.64</c:v>
                </c:pt>
                <c:pt idx="15">
                  <c:v>1.6</c:v>
                </c:pt>
                <c:pt idx="16">
                  <c:v>1.27</c:v>
                </c:pt>
                <c:pt idx="17">
                  <c:v>1.1299999999999999</c:v>
                </c:pt>
                <c:pt idx="18">
                  <c:v>1</c:v>
                </c:pt>
                <c:pt idx="19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41BE-4155-A212-FB549181A2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5F-462E-B12D-FCAB1486A1D2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5F-462E-B12D-FCAB1486A1D2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5F-462E-B12D-FCAB1486A1D2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85F-462E-B12D-FCAB1486A1D2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85F-462E-B12D-FCAB1486A1D2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85F-462E-B12D-FCAB1486A1D2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85F-462E-B12D-FCAB1486A1D2}"/>
              </c:ext>
            </c:extLst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85F-462E-B12D-FCAB1486A1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RT_13</c:v>
                </c:pt>
                <c:pt idx="1">
                  <c:v>RT_05</c:v>
                </c:pt>
                <c:pt idx="2">
                  <c:v>RT_14</c:v>
                </c:pt>
                <c:pt idx="3">
                  <c:v>RT_17</c:v>
                </c:pt>
                <c:pt idx="4">
                  <c:v>RT_06</c:v>
                </c:pt>
                <c:pt idx="5">
                  <c:v>RT_09</c:v>
                </c:pt>
                <c:pt idx="6">
                  <c:v>RT_01</c:v>
                </c:pt>
                <c:pt idx="7">
                  <c:v>RT_16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54.5</c:v>
                </c:pt>
                <c:pt idx="1">
                  <c:v>40</c:v>
                </c:pt>
                <c:pt idx="2">
                  <c:v>35.299999999999997</c:v>
                </c:pt>
                <c:pt idx="3">
                  <c:v>33.299999999999997</c:v>
                </c:pt>
                <c:pt idx="4">
                  <c:v>33.299999999999997</c:v>
                </c:pt>
                <c:pt idx="5">
                  <c:v>31.3</c:v>
                </c:pt>
                <c:pt idx="6">
                  <c:v>30.8</c:v>
                </c:pt>
                <c:pt idx="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85F-462E-B12D-FCAB1486A1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Traffic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FB-4996-ADEB-6B0DABCAF517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FB-4996-ADEB-6B0DABCAF517}"/>
              </c:ext>
            </c:extLst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FB-4996-ADEB-6B0DABCAF51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FB-4996-ADEB-6B0DABCAF51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FB-4996-ADEB-6B0DABCAF51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9FB-4996-ADEB-6B0DABCAF5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 (≥80min)</c:v>
                </c:pt>
                <c:pt idx="1">
                  <c:v>MODERATE (40-80)</c:v>
                </c:pt>
                <c:pt idx="2">
                  <c:v>LOW (&lt;40min)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10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FB-4996-ADEB-6B0DABCAF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Processing Time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52F-4857-B5DB-182E149149B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52F-4857-B5DB-182E149149B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52F-4857-B5DB-182E149149BE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52F-4857-B5DB-182E149149BE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52F-4857-B5DB-182E149149BE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52F-4857-B5DB-182E149149BE}"/>
              </c:ext>
            </c:extLst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52F-4857-B5DB-182E149149BE}"/>
              </c:ext>
            </c:extLst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52F-4857-B5DB-182E149149BE}"/>
              </c:ext>
            </c:extLst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52F-4857-B5DB-182E149149BE}"/>
              </c:ext>
            </c:extLst>
          </c:dPt>
          <c:dPt>
            <c:idx val="9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52F-4857-B5DB-182E149149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Chennai</c:v>
                </c:pt>
                <c:pt idx="1">
                  <c:v>Hyderabad</c:v>
                </c:pt>
                <c:pt idx="2">
                  <c:v>Lucknow</c:v>
                </c:pt>
                <c:pt idx="3">
                  <c:v>Kolkata</c:v>
                </c:pt>
                <c:pt idx="4">
                  <c:v>Mumbai</c:v>
                </c:pt>
                <c:pt idx="5">
                  <c:v>Ahmedabad</c:v>
                </c:pt>
                <c:pt idx="6">
                  <c:v>Jaipur</c:v>
                </c:pt>
                <c:pt idx="7">
                  <c:v>Delhi</c:v>
                </c:pt>
                <c:pt idx="8">
                  <c:v>Pune</c:v>
                </c:pt>
                <c:pt idx="9">
                  <c:v>Bengaluru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117</c:v>
                </c:pt>
                <c:pt idx="1">
                  <c:v>110</c:v>
                </c:pt>
                <c:pt idx="2">
                  <c:v>101</c:v>
                </c:pt>
                <c:pt idx="3">
                  <c:v>95</c:v>
                </c:pt>
                <c:pt idx="4">
                  <c:v>84</c:v>
                </c:pt>
                <c:pt idx="5">
                  <c:v>81</c:v>
                </c:pt>
                <c:pt idx="6">
                  <c:v>58</c:v>
                </c:pt>
                <c:pt idx="7">
                  <c:v>63</c:v>
                </c:pt>
                <c:pt idx="8">
                  <c:v>41</c:v>
                </c:pt>
                <c:pt idx="9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52F-4857-B5DB-182E149149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BA-46CA-BBB5-CF526AB993E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BBA-46CA-BBB5-CF526AB993E0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BA-46CA-BBB5-CF526AB993E0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BA-46CA-BBB5-CF526AB993E0}"/>
              </c:ext>
            </c:extLst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BA-46CA-BBB5-CF526AB993E0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BBA-46CA-BBB5-CF526AB993E0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BBA-46CA-BBB5-CF526AB993E0}"/>
              </c:ext>
            </c:extLst>
          </c:dPt>
          <c:dPt>
            <c:idx val="7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BBA-46CA-BBB5-CF526AB993E0}"/>
              </c:ext>
            </c:extLst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BBA-46CA-BBB5-CF526AB993E0}"/>
              </c:ext>
            </c:extLst>
          </c:dPt>
          <c:dPt>
            <c:idx val="9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BBA-46CA-BBB5-CF526AB993E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Hyderabad</c:v>
                </c:pt>
                <c:pt idx="1">
                  <c:v>Kolkata</c:v>
                </c:pt>
                <c:pt idx="2">
                  <c:v>Lucknow</c:v>
                </c:pt>
                <c:pt idx="3">
                  <c:v>Ahmedabad</c:v>
                </c:pt>
                <c:pt idx="4">
                  <c:v>Bengaluru</c:v>
                </c:pt>
                <c:pt idx="5">
                  <c:v>Jaipur</c:v>
                </c:pt>
                <c:pt idx="6">
                  <c:v>Pune</c:v>
                </c:pt>
                <c:pt idx="7">
                  <c:v>Delhi</c:v>
                </c:pt>
                <c:pt idx="8">
                  <c:v>Mumbai</c:v>
                </c:pt>
                <c:pt idx="9">
                  <c:v>Chennai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83.7</c:v>
                </c:pt>
                <c:pt idx="1">
                  <c:v>77.8</c:v>
                </c:pt>
                <c:pt idx="2">
                  <c:v>75</c:v>
                </c:pt>
                <c:pt idx="3">
                  <c:v>74.2</c:v>
                </c:pt>
                <c:pt idx="4">
                  <c:v>73.7</c:v>
                </c:pt>
                <c:pt idx="5">
                  <c:v>72.400000000000006</c:v>
                </c:pt>
                <c:pt idx="6">
                  <c:v>69.2</c:v>
                </c:pt>
                <c:pt idx="7">
                  <c:v>66.7</c:v>
                </c:pt>
                <c:pt idx="8">
                  <c:v>64</c:v>
                </c:pt>
                <c:pt idx="9">
                  <c:v>63.3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BBA-46CA-BBB5-CF526AB993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97-40DF-A80D-4F66DD894F6A}"/>
              </c:ext>
            </c:extLst>
          </c:dPt>
          <c:dPt>
            <c:idx val="1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97-40DF-A80D-4F66DD894F6A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97-40DF-A80D-4F66DD894F6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597-40DF-A80D-4F66DD894F6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597-40DF-A80D-4F66DD894F6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97-40DF-A80D-4F66DD894F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 Performer (≥90%): 19</c:v>
                </c:pt>
                <c:pt idx="1">
                  <c:v>Stable (80-90%): 18</c:v>
                </c:pt>
                <c:pt idx="2">
                  <c:v>Needs Training (&lt;80%): 13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18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597-40DF-A80D-4F66DD894F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E0-4D3D-9CFB-983326C4030A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E0-4D3D-9CFB-983326C403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Top 5 (Fastest)
53.0 kmph</c:v>
                </c:pt>
                <c:pt idx="1">
                  <c:v>Bottom 5 (Slowest)
35.3 kmph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87.2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E0-4D3D-9CFB-983326C403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Delays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D3-49A2-BB84-1788EF311A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D3-49A2-BB84-1788EF311A5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D3-49A2-BB84-1788EF311A5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D6CC-4B98-B979-3B05A668F9B1}"/>
              </c:ext>
            </c:extLst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lang="en-US" baseline="0" dirty="0"/>
                      <a:t>
</a:t>
                    </a:r>
                    <a:fld id="{B1F4E4C5-D1C7-4FC1-AA69-D58A3E5E3B33}" type="PERCENTAGE">
                      <a:rPr lang="en-US" baseline="0"/>
                      <a:pPr/>
                      <a:t>[PERCENTAGE]</a:t>
                    </a:fld>
                    <a:endParaRPr lang="en-US" baseline="0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D6CC-4B98-B979-3B05A668F9B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Traffic
387 orders</c:v>
                </c:pt>
                <c:pt idx="1">
                  <c:v>Weather
192 orders</c:v>
                </c:pt>
                <c:pt idx="2">
                  <c:v>Technical
107 orders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387</c:v>
                </c:pt>
                <c:pt idx="1">
                  <c:v>192</c:v>
                </c:pt>
                <c:pt idx="2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FD3-49A2-BB84-1788EF311A5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EF-4DA1-8481-91DF6B4ECA37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EF-4DA1-8481-91DF6B4ECA37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EF-4DA1-8481-91DF6B4ECA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Traffic</c:v>
                </c:pt>
                <c:pt idx="1">
                  <c:v>Weather</c:v>
                </c:pt>
                <c:pt idx="2">
                  <c:v>Technical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68.7</c:v>
                </c:pt>
                <c:pt idx="1">
                  <c:v>63.7</c:v>
                </c:pt>
                <c:pt idx="2">
                  <c:v>64.099999999999994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EF-4DA1-8481-91DF6B4ECA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8730108060816723"/>
          <c:y val="9.8566308243727599E-2"/>
          <c:w val="0.65010522333356979"/>
          <c:h val="0.658123782914232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1C-4559-B946-849CAECDD6AB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1C-4559-B946-849CAECDD6AB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61C-4559-B946-849CAECDD6AB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61C-4559-B946-849CAECDD6AB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61C-4559-B946-849CAECDD6AB}"/>
              </c:ext>
            </c:extLst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61C-4559-B946-849CAECDD6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Hyderabad</c:v>
                </c:pt>
                <c:pt idx="1">
                  <c:v>Ahmedabad</c:v>
                </c:pt>
                <c:pt idx="2">
                  <c:v>Pune</c:v>
                </c:pt>
                <c:pt idx="3">
                  <c:v>Lucknow</c:v>
                </c:pt>
                <c:pt idx="4">
                  <c:v>Mumbai</c:v>
                </c:pt>
                <c:pt idx="5">
                  <c:v>Bengaluru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76.099999999999994</c:v>
                </c:pt>
                <c:pt idx="1">
                  <c:v>69.7</c:v>
                </c:pt>
                <c:pt idx="2">
                  <c:v>69.400000000000006</c:v>
                </c:pt>
                <c:pt idx="3">
                  <c:v>69.2</c:v>
                </c:pt>
                <c:pt idx="4">
                  <c:v>68.599999999999994</c:v>
                </c:pt>
                <c:pt idx="5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61C-4559-B946-849CAECDD6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677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799C-AA28-0E05-8326-EB62C85E2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C8F5C-5DF6-D4E9-5BD2-1D2A33F55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D005A-5482-BA45-6E68-8340D1EA3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DA8C-282F-E2E2-D345-B13E42D16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4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ACEE-D1F2-84EB-4BE0-34AF0FC4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11102-1618-A111-05E6-BD28CC986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6B163-CF91-41E8-2F22-2CD331DB6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7DCB5-FF0E-5697-27B5-B82120AF11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1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B7RrKNyFX5GLDJ3sAdPd0JqKRGMt4Qyg/view?usp=sharin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11424" y="343686"/>
            <a:ext cx="7918176" cy="1373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Route Optimization Project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11424" y="1297231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Analysis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flipV="1">
            <a:off x="311424" y="2543769"/>
            <a:ext cx="7569992" cy="4454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85141" y="406851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095" y="4331250"/>
            <a:ext cx="1892511" cy="620748"/>
          </a:xfrm>
          <a:prstGeom prst="rect">
            <a:avLst/>
          </a:prstGeom>
          <a:solidFill>
            <a:srgbClr val="1565C0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4417" y="4331420"/>
            <a:ext cx="1548921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6345" y="4653112"/>
            <a:ext cx="2976572" cy="258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SQL Queries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2903" y="4305032"/>
            <a:ext cx="2076251" cy="620748"/>
          </a:xfrm>
          <a:prstGeom prst="rect">
            <a:avLst/>
          </a:prstGeom>
          <a:solidFill>
            <a:srgbClr val="1565C0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245383" y="4313132"/>
            <a:ext cx="1751033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Point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29429" y="4651068"/>
            <a:ext cx="1833715" cy="21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&amp; Charts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52FB4F-A139-8D8D-A041-7F0641526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10" y="-300460"/>
            <a:ext cx="2322487" cy="1547938"/>
          </a:xfrm>
          <a:prstGeom prst="rect">
            <a:avLst/>
          </a:prstGeom>
        </p:spPr>
      </p:pic>
      <p:sp>
        <p:nvSpPr>
          <p:cNvPr id="33" name="Shape 11">
            <a:extLst>
              <a:ext uri="{FF2B5EF4-FFF2-40B4-BE49-F238E27FC236}">
                <a16:creationId xmlns:a16="http://schemas.microsoft.com/office/drawing/2014/main" id="{ADB296C7-BD77-72E2-114E-2476858D8410}"/>
              </a:ext>
            </a:extLst>
          </p:cNvPr>
          <p:cNvSpPr/>
          <p:nvPr/>
        </p:nvSpPr>
        <p:spPr>
          <a:xfrm>
            <a:off x="2616721" y="4331772"/>
            <a:ext cx="2076251" cy="620748"/>
          </a:xfrm>
          <a:prstGeom prst="rect">
            <a:avLst/>
          </a:prstGeom>
          <a:solidFill>
            <a:srgbClr val="1565C0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CDCDBAF8-3137-7742-5EA9-9192C647B7EC}"/>
              </a:ext>
            </a:extLst>
          </p:cNvPr>
          <p:cNvSpPr/>
          <p:nvPr/>
        </p:nvSpPr>
        <p:spPr>
          <a:xfrm>
            <a:off x="2789201" y="4339872"/>
            <a:ext cx="1751033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96853242-B040-A34B-224C-A211CE8650D0}"/>
              </a:ext>
            </a:extLst>
          </p:cNvPr>
          <p:cNvSpPr/>
          <p:nvPr/>
        </p:nvSpPr>
        <p:spPr>
          <a:xfrm>
            <a:off x="2773247" y="4677808"/>
            <a:ext cx="1833715" cy="21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Query Result sets</a:t>
            </a:r>
            <a:endParaRPr lang="en-US" sz="90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5ABD98F6-F649-4328-370D-17D489EF85FE}"/>
              </a:ext>
            </a:extLst>
          </p:cNvPr>
          <p:cNvSpPr/>
          <p:nvPr/>
        </p:nvSpPr>
        <p:spPr>
          <a:xfrm>
            <a:off x="311424" y="4034719"/>
            <a:ext cx="7584663" cy="1385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DA8BA8-0493-B887-7C19-F5D9B5332F5B}"/>
              </a:ext>
            </a:extLst>
          </p:cNvPr>
          <p:cNvSpPr txBox="1"/>
          <p:nvPr/>
        </p:nvSpPr>
        <p:spPr>
          <a:xfrm>
            <a:off x="299312" y="2668517"/>
            <a:ext cx="3680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 dirty="0">
                <a:solidFill>
                  <a:srgbClr val="00B4D8"/>
                </a:solidFill>
                <a:latin typeface="Monotype Corsiva" panose="03010101010201010101" pitchFamily="66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Prepared by :</a:t>
            </a:r>
            <a:r>
              <a:rPr lang="en-US" sz="1800" b="1" kern="0" dirty="0">
                <a:solidFill>
                  <a:srgbClr val="00B4D8"/>
                </a:solidFill>
                <a:latin typeface="Arial Black" panose="020B0A04020102020204" pitchFamily="34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800" b="1" kern="0" dirty="0">
                <a:solidFill>
                  <a:schemeClr val="bg1"/>
                </a:solidFill>
                <a:latin typeface="Arial Black" panose="020B0A04020102020204" pitchFamily="34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Mrudula Jujjuru</a:t>
            </a:r>
            <a:endParaRPr lang="en-US" sz="2400" dirty="0">
              <a:solidFill>
                <a:schemeClr val="bg1"/>
              </a:solidFill>
              <a:latin typeface="Arial Black" panose="020B0A04020102020204" pitchFamily="34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323759" y="1813214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15"/>
          <p:cNvSpPr/>
          <p:nvPr/>
        </p:nvSpPr>
        <p:spPr>
          <a:xfrm>
            <a:off x="308726" y="1833111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000" dirty="0"/>
          </a:p>
        </p:txBody>
      </p:sp>
      <p:sp>
        <p:nvSpPr>
          <p:cNvPr id="43" name="Text 16"/>
          <p:cNvSpPr/>
          <p:nvPr/>
        </p:nvSpPr>
        <p:spPr>
          <a:xfrm>
            <a:off x="323759" y="2130792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50" dirty="0"/>
          </a:p>
        </p:txBody>
      </p:sp>
      <p:sp>
        <p:nvSpPr>
          <p:cNvPr id="44" name="Shape 17"/>
          <p:cNvSpPr/>
          <p:nvPr/>
        </p:nvSpPr>
        <p:spPr>
          <a:xfrm>
            <a:off x="1878401" y="1810752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18"/>
          <p:cNvSpPr/>
          <p:nvPr/>
        </p:nvSpPr>
        <p:spPr>
          <a:xfrm>
            <a:off x="1863368" y="1830649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6" name="Text 19"/>
          <p:cNvSpPr/>
          <p:nvPr/>
        </p:nvSpPr>
        <p:spPr>
          <a:xfrm>
            <a:off x="1878401" y="2128330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850" dirty="0"/>
          </a:p>
        </p:txBody>
      </p:sp>
      <p:sp>
        <p:nvSpPr>
          <p:cNvPr id="47" name="Shape 20"/>
          <p:cNvSpPr/>
          <p:nvPr/>
        </p:nvSpPr>
        <p:spPr>
          <a:xfrm>
            <a:off x="3426195" y="1813214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21"/>
          <p:cNvSpPr/>
          <p:nvPr/>
        </p:nvSpPr>
        <p:spPr>
          <a:xfrm>
            <a:off x="3411162" y="1833111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49" name="Text 22"/>
          <p:cNvSpPr/>
          <p:nvPr/>
        </p:nvSpPr>
        <p:spPr>
          <a:xfrm>
            <a:off x="3426195" y="2130792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850" dirty="0"/>
          </a:p>
        </p:txBody>
      </p:sp>
      <p:sp>
        <p:nvSpPr>
          <p:cNvPr id="50" name="Shape 23"/>
          <p:cNvSpPr/>
          <p:nvPr/>
        </p:nvSpPr>
        <p:spPr>
          <a:xfrm>
            <a:off x="5022804" y="1810752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24"/>
          <p:cNvSpPr/>
          <p:nvPr/>
        </p:nvSpPr>
        <p:spPr>
          <a:xfrm>
            <a:off x="5022804" y="1833111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" dirty="0"/>
          </a:p>
        </p:txBody>
      </p:sp>
      <p:sp>
        <p:nvSpPr>
          <p:cNvPr id="52" name="Text 25"/>
          <p:cNvSpPr/>
          <p:nvPr/>
        </p:nvSpPr>
        <p:spPr>
          <a:xfrm>
            <a:off x="5052869" y="2144158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50" dirty="0"/>
          </a:p>
        </p:txBody>
      </p:sp>
      <p:sp>
        <p:nvSpPr>
          <p:cNvPr id="53" name="Shape 26"/>
          <p:cNvSpPr/>
          <p:nvPr/>
        </p:nvSpPr>
        <p:spPr>
          <a:xfrm>
            <a:off x="6626929" y="1810752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27"/>
          <p:cNvSpPr/>
          <p:nvPr/>
        </p:nvSpPr>
        <p:spPr>
          <a:xfrm>
            <a:off x="6611896" y="1830649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55" name="Text 28"/>
          <p:cNvSpPr/>
          <p:nvPr/>
        </p:nvSpPr>
        <p:spPr>
          <a:xfrm>
            <a:off x="6626929" y="2128330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Shipments</a:t>
            </a:r>
            <a:endParaRPr lang="en-US" sz="850" dirty="0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10DAA0C2-1932-033E-E731-AF0021D8A900}"/>
              </a:ext>
            </a:extLst>
          </p:cNvPr>
          <p:cNvSpPr/>
          <p:nvPr/>
        </p:nvSpPr>
        <p:spPr>
          <a:xfrm>
            <a:off x="323759" y="158149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 USED</a:t>
            </a:r>
            <a:endParaRPr lang="en-US" sz="8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E1E62D-4F33-7104-BEFC-9F1CD00CC408}"/>
              </a:ext>
            </a:extLst>
          </p:cNvPr>
          <p:cNvSpPr txBox="1"/>
          <p:nvPr/>
        </p:nvSpPr>
        <p:spPr>
          <a:xfrm>
            <a:off x="262097" y="3045761"/>
            <a:ext cx="7552616" cy="970829"/>
          </a:xfrm>
          <a:prstGeom prst="rect">
            <a:avLst/>
          </a:prstGeom>
          <a:noFill/>
        </p:spPr>
        <p:txBody>
          <a:bodyPr wrap="square" tIns="36000" bIns="36000" anchor="b">
            <a:spAutoFit/>
          </a:bodyPr>
          <a:lstStyle/>
          <a:p>
            <a:r>
              <a:rPr lang="en-US" sz="2400" b="1" kern="0" dirty="0">
                <a:solidFill>
                  <a:srgbClr val="00B4D8"/>
                </a:solidFill>
                <a:latin typeface="Monotype Corsiva" panose="03010101010201010101" pitchFamily="66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Explanatory Video Link:</a:t>
            </a:r>
            <a:br>
              <a:rPr lang="en-US" sz="2400" b="1" kern="0" dirty="0">
                <a:solidFill>
                  <a:srgbClr val="00B4D8"/>
                </a:solidFill>
                <a:latin typeface="Monotype Corsiva" panose="03010101010201010101" pitchFamily="66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600" b="1" kern="0" dirty="0">
                <a:solidFill>
                  <a:srgbClr val="FFFF00"/>
                </a:solidFill>
                <a:latin typeface="Gautami" panose="020B0502040204020203" pitchFamily="34" charset="0"/>
                <a:ea typeface="Cascadia Code SemiBold" panose="020B0609020000020004" pitchFamily="49" charset="0"/>
                <a:cs typeface="Gautam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  <a:r>
              <a:rPr lang="en-US" sz="1600" b="1" kern="0" dirty="0">
                <a:solidFill>
                  <a:srgbClr val="FFFF00"/>
                </a:solidFill>
                <a:latin typeface="Gautami" panose="020B0502040204020203" pitchFamily="34" charset="0"/>
                <a:ea typeface="Cascadia Code SemiBold" panose="020B0609020000020004" pitchFamily="49" charset="0"/>
                <a:cs typeface="Gautam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ttps://drive.google.com/file/d/1B7RrKNyFX5GLDJ3sAdPd0JqKRGMt4Qyg/view?usp=sharing</a:t>
            </a:r>
            <a:endParaRPr lang="en-IN" dirty="0">
              <a:solidFill>
                <a:srgbClr val="FFFF00"/>
              </a:solidFill>
              <a:latin typeface="Gautami" panose="020B0502040204020203" pitchFamily="34" charset="0"/>
              <a:cs typeface="Gautami" panose="020B0502040204020203" pitchFamily="34" charset="0"/>
            </a:endParaRPr>
          </a:p>
        </p:txBody>
      </p:sp>
      <p:sp>
        <p:nvSpPr>
          <p:cNvPr id="60" name="Shape 0">
            <a:extLst>
              <a:ext uri="{FF2B5EF4-FFF2-40B4-BE49-F238E27FC236}">
                <a16:creationId xmlns:a16="http://schemas.microsoft.com/office/drawing/2014/main" id="{F860B2E5-DA1E-56F1-CA11-63D4F113447C}"/>
              </a:ext>
            </a:extLst>
          </p:cNvPr>
          <p:cNvSpPr/>
          <p:nvPr/>
        </p:nvSpPr>
        <p:spPr>
          <a:xfrm>
            <a:off x="8238209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Tables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and Schema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tables. Identify keys and create relationships . EER Diagram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8686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Distribution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577840" y="3520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AAE02BA-A4B0-6415-C931-DE6B5ACAFD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15"/>
          <a:stretch>
            <a:fillRect/>
          </a:stretch>
        </p:blipFill>
        <p:spPr>
          <a:xfrm>
            <a:off x="4716406" y="1291309"/>
            <a:ext cx="4306824" cy="3394991"/>
          </a:xfrm>
          <a:prstGeom prst="rect">
            <a:avLst/>
          </a:prstGeom>
        </p:spPr>
      </p:pic>
      <p:sp>
        <p:nvSpPr>
          <p:cNvPr id="29" name="Shape 17">
            <a:extLst>
              <a:ext uri="{FF2B5EF4-FFF2-40B4-BE49-F238E27FC236}">
                <a16:creationId xmlns:a16="http://schemas.microsoft.com/office/drawing/2014/main" id="{C14AB730-2385-8B09-21BE-C1A15D549C17}"/>
              </a:ext>
            </a:extLst>
          </p:cNvPr>
          <p:cNvSpPr/>
          <p:nvPr/>
        </p:nvSpPr>
        <p:spPr>
          <a:xfrm>
            <a:off x="4716405" y="1044544"/>
            <a:ext cx="4332478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FFFFF95B-A595-19AD-8989-3905125BAC39}"/>
              </a:ext>
            </a:extLst>
          </p:cNvPr>
          <p:cNvSpPr/>
          <p:nvPr/>
        </p:nvSpPr>
        <p:spPr>
          <a:xfrm>
            <a:off x="4807846" y="1044544"/>
            <a:ext cx="4215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1913EE58-E37F-3CE7-F07C-D96AF6998972}"/>
              </a:ext>
            </a:extLst>
          </p:cNvPr>
          <p:cNvSpPr/>
          <p:nvPr/>
        </p:nvSpPr>
        <p:spPr>
          <a:xfrm>
            <a:off x="255913" y="1090140"/>
            <a:ext cx="4379976" cy="396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3F4BF28-E5D9-E767-3680-63D06122044D}"/>
              </a:ext>
            </a:extLst>
          </p:cNvPr>
          <p:cNvSpPr/>
          <p:nvPr/>
        </p:nvSpPr>
        <p:spPr>
          <a:xfrm>
            <a:off x="4202472" y="1106424"/>
            <a:ext cx="437998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FC8CD8FA-7B53-F45D-AC0E-ED6B9F436CD1}"/>
              </a:ext>
            </a:extLst>
          </p:cNvPr>
          <p:cNvSpPr/>
          <p:nvPr/>
        </p:nvSpPr>
        <p:spPr>
          <a:xfrm>
            <a:off x="4202472" y="1106424"/>
            <a:ext cx="43799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873F990C-E965-2173-01A3-14F064A6823E}"/>
              </a:ext>
            </a:extLst>
          </p:cNvPr>
          <p:cNvSpPr/>
          <p:nvPr/>
        </p:nvSpPr>
        <p:spPr>
          <a:xfrm>
            <a:off x="365641" y="1199868"/>
            <a:ext cx="4188850" cy="36740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flipkart_logistics_route_optimization;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flipkart_logistics_route_optimization;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Tables created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Warehouses ( Warehouse_ID  VARCHAR(10) PRIMARY KEY,    Warehouse_Name  VARCHAR(100) NOT NULL, City  VARCHAR(50) NOT NULL,    Processing_Capacity  INT, Average_Processing_Time_Min INT);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Routes ( Route_ID VARCHAR(10) PRIMARY KEY,    Start_Location VARCHAR(50), End_Location VARCHAR(50), Distance_KM INT,    Average_Travel_Time_Min INT, Traffic_Delay_Min INT);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Agents (Agent_ID VARCHAR(10) PRIMARY KEY, Agent_Name VARCHAR(100), Route_ID VARCHAR(10), Avg_Speed_KMPH DECIMAL(6, 2),    On_Time_Delivery_Percentage DECIMAL(5, 2), Experience_Years DECIMAL(4, 2), FOREIGN KEY (Route_ID) REFERENCES Routes(Route_ID));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Orders ( Order_ID VARCHAR(20) PRIMARY KEY,    Warehouse_ID VARCHAR(10), Route_ID VARCHAR(10), Agent_ID VARCHAR(10),    Order_Date DATE, Expected_Delivery_Date DATE, Actual_Delivery_Date DATE, Status VARCHAR(20), Order_Value DECIMAL(10, 2), FOREIGN KEY (Warehouse_ID) REFERENCES Warehouses(Warehouse_ID), FOREIGN KEY (Route_ID) REFERENCES Routes(Route_ID));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Tracking ( Tracking_ID VARCHAR(10) PRIMARY KEY,    Order_ID VARCHAR(20), Checkpoint VARCHAR(50), Checkpoint_Time DATETIME, Delay_Reason VARCHAR(50), Delay_Minutes INT, FOREIGN KEY (Order_ID) REFERENCES Orders(Order_ID));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16B23-135B-7DBE-6619-72EFB496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1A40AC-CD4F-2944-ACF7-1CB04E5DF28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38EC5D-2F02-4D5A-BD3A-62529E08532D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843658-E4B4-C72D-81AD-9339253BBFC7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C1B0D2-E052-6134-F802-979D58526393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STEP 1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08F9F9-8F35-056B-DA4F-9402EEB854CB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Duplicate Removal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2E37E3-7340-520C-8D76-BA46ACFB2770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delete duplicate Order_ID records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027A0BD-211C-4066-F90F-DB773CB01B60}"/>
              </a:ext>
            </a:extLst>
          </p:cNvPr>
          <p:cNvSpPr/>
          <p:nvPr/>
        </p:nvSpPr>
        <p:spPr>
          <a:xfrm>
            <a:off x="274320" y="868680"/>
            <a:ext cx="5029200" cy="188061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2833EE3-FE0F-0832-628D-2DA9862F526D}"/>
              </a:ext>
            </a:extLst>
          </p:cNvPr>
          <p:cNvSpPr/>
          <p:nvPr/>
        </p:nvSpPr>
        <p:spPr>
          <a:xfrm>
            <a:off x="4800600" y="868680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5EA66C0-5C12-116E-8830-A719744A237F}"/>
              </a:ext>
            </a:extLst>
          </p:cNvPr>
          <p:cNvSpPr/>
          <p:nvPr/>
        </p:nvSpPr>
        <p:spPr>
          <a:xfrm>
            <a:off x="4800600" y="8686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1AA648-ACD5-4AB9-A354-40D04F1DB0E0}"/>
              </a:ext>
            </a:extLst>
          </p:cNvPr>
          <p:cNvSpPr/>
          <p:nvPr/>
        </p:nvSpPr>
        <p:spPr>
          <a:xfrm>
            <a:off x="384048" y="978408"/>
            <a:ext cx="480974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Identify duplicates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Order_ID, COUNT(*) AS duplicate_count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Order_ID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 duplicates keeping first occurrence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o1 FROM Orders o1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Orders o2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o1.Order_ID = o2.Order_ID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o1.Order_ID &gt; o2.Order_ID;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total_orders_after_dedup FROM Orders;</a:t>
            </a:r>
            <a:endParaRPr lang="en-US" sz="82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07A3055-348A-3AC4-2401-7E64E9E9E2BA}"/>
              </a:ext>
            </a:extLst>
          </p:cNvPr>
          <p:cNvSpPr/>
          <p:nvPr/>
        </p:nvSpPr>
        <p:spPr>
          <a:xfrm>
            <a:off x="274320" y="2834640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3A5E5E6-F59C-FC34-0FC8-C609048D4279}"/>
              </a:ext>
            </a:extLst>
          </p:cNvPr>
          <p:cNvSpPr/>
          <p:nvPr/>
        </p:nvSpPr>
        <p:spPr>
          <a:xfrm>
            <a:off x="365760" y="283464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517286C-63D9-CAFA-218D-DE2A5D7B7C77}"/>
              </a:ext>
            </a:extLst>
          </p:cNvPr>
          <p:cNvSpPr/>
          <p:nvPr/>
        </p:nvSpPr>
        <p:spPr>
          <a:xfrm>
            <a:off x="274320" y="3130296"/>
            <a:ext cx="5029200" cy="310896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79CCFA5-8E36-7677-422B-F0D68390794B}"/>
              </a:ext>
            </a:extLst>
          </p:cNvPr>
          <p:cNvSpPr/>
          <p:nvPr/>
        </p:nvSpPr>
        <p:spPr>
          <a:xfrm>
            <a:off x="277855" y="3125724"/>
            <a:ext cx="109728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5BE4B63-6CAF-50BA-BE52-B1A15EE7C82B}"/>
              </a:ext>
            </a:extLst>
          </p:cNvPr>
          <p:cNvSpPr/>
          <p:nvPr/>
        </p:nvSpPr>
        <p:spPr>
          <a:xfrm>
            <a:off x="457200" y="3169920"/>
            <a:ext cx="4572000" cy="222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duplicates found — data is already clean. Total orders after dedup: 300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E92F599-B9BC-2C33-85F4-3E8617260875}"/>
              </a:ext>
            </a:extLst>
          </p:cNvPr>
          <p:cNvSpPr/>
          <p:nvPr/>
        </p:nvSpPr>
        <p:spPr>
          <a:xfrm>
            <a:off x="274320" y="365455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E93C214-A4D2-1B6F-B07D-47614ACCB2FA}"/>
              </a:ext>
            </a:extLst>
          </p:cNvPr>
          <p:cNvSpPr/>
          <p:nvPr/>
        </p:nvSpPr>
        <p:spPr>
          <a:xfrm>
            <a:off x="365760" y="365455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900" dirty="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313A6582-D520-63EA-6874-167FEDF49D74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3907536"/>
          <a:ext cx="5029200" cy="1005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Order 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7">
            <a:extLst>
              <a:ext uri="{FF2B5EF4-FFF2-40B4-BE49-F238E27FC236}">
                <a16:creationId xmlns:a16="http://schemas.microsoft.com/office/drawing/2014/main" id="{8EB7295B-A9AD-8A62-ACE5-F2D80486C604}"/>
              </a:ext>
            </a:extLst>
          </p:cNvPr>
          <p:cNvSpPr/>
          <p:nvPr/>
        </p:nvSpPr>
        <p:spPr>
          <a:xfrm>
            <a:off x="5486400" y="868680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17E1E14-5A53-5F7F-1F84-C7C0415950E4}"/>
              </a:ext>
            </a:extLst>
          </p:cNvPr>
          <p:cNvSpPr/>
          <p:nvPr/>
        </p:nvSpPr>
        <p:spPr>
          <a:xfrm>
            <a:off x="5577840" y="8686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Distribution</a:t>
            </a:r>
            <a:endParaRPr lang="en-US" sz="900" dirty="0"/>
          </a:p>
        </p:txBody>
      </p:sp>
      <p:graphicFrame>
        <p:nvGraphicFramePr>
          <p:cNvPr id="22" name="Chart 0">
            <a:extLst>
              <a:ext uri="{FF2B5EF4-FFF2-40B4-BE49-F238E27FC236}">
                <a16:creationId xmlns:a16="http://schemas.microsoft.com/office/drawing/2014/main" id="{630772AC-9015-0DF9-2B71-A09042EB6321}"/>
              </a:ext>
            </a:extLst>
          </p:cNvPr>
          <p:cNvGraphicFramePr/>
          <p:nvPr/>
        </p:nvGraphicFramePr>
        <p:xfrm>
          <a:off x="5486400" y="1115568"/>
          <a:ext cx="3383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19">
            <a:extLst>
              <a:ext uri="{FF2B5EF4-FFF2-40B4-BE49-F238E27FC236}">
                <a16:creationId xmlns:a16="http://schemas.microsoft.com/office/drawing/2014/main" id="{99DF3B5C-A1D8-5E7E-8E0B-D35749BECB33}"/>
              </a:ext>
            </a:extLst>
          </p:cNvPr>
          <p:cNvSpPr/>
          <p:nvPr/>
        </p:nvSpPr>
        <p:spPr>
          <a:xfrm>
            <a:off x="5486400" y="3520440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F1E49111-7C43-4596-B8EA-E1B1855098D1}"/>
              </a:ext>
            </a:extLst>
          </p:cNvPr>
          <p:cNvSpPr/>
          <p:nvPr/>
        </p:nvSpPr>
        <p:spPr>
          <a:xfrm>
            <a:off x="5577840" y="3520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26CCEAEA-89A2-DFE9-7ED9-0C30F3C13FED}"/>
              </a:ext>
            </a:extLst>
          </p:cNvPr>
          <p:cNvSpPr/>
          <p:nvPr/>
        </p:nvSpPr>
        <p:spPr>
          <a:xfrm>
            <a:off x="5486400" y="3767328"/>
            <a:ext cx="338328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8044A173-FA92-F3FB-7EF9-41AC0882884A}"/>
              </a:ext>
            </a:extLst>
          </p:cNvPr>
          <p:cNvSpPr/>
          <p:nvPr/>
        </p:nvSpPr>
        <p:spPr>
          <a:xfrm>
            <a:off x="5577840" y="382219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scanned
</a:t>
            </a: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detected
</a:t>
            </a: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proceed to next step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5821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STEP 2–3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89888" y="78197"/>
            <a:ext cx="7226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Null Fix &amp; Date Validation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 Traffic_Delay_Min · Standardise date columns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Replace NULL Traffic_Delay_Min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5"/>
            <a:ext cx="4206240" cy="186280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4"/>
            <a:ext cx="3986784" cy="167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Check for NULLs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total_routes,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Traffic_Delay_Min IS NULL THEN 1 ELSE 0 END) AS null_count,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ROUND(AVG(Traffic_Delay_Min), 2) AS current_avg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Replace NULLs with average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Routes r1 JOIN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ROUND(AVG(Traffic_Delay_Min),2) AS avg_delay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Routes WHERE Traffic_Delay_Min IS NOT NULL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avg_tbl SET r1.Traffic_Delay_Min = avg_tbl.avg_delay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r1.Traffic_Delay_Min IS NULL;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56032" y="2987096"/>
            <a:ext cx="4174889" cy="288689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" y="2987096"/>
            <a:ext cx="128016" cy="270401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8912" y="3019754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NULLs in Traffic_Delay_Min — no update needed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Convert Dates to YYYY-MM-DD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54296" y="1050131"/>
            <a:ext cx="4206240" cy="120170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197864"/>
            <a:ext cx="3986784" cy="9747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Verify date format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Order_Date,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Expected_Delivery_Date,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Actual_Delivery_Date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666396" y="2306572"/>
            <a:ext cx="102234" cy="28868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80042" y="2359737"/>
            <a:ext cx="4169666" cy="237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dates already in YYYY-MM-DD format — no conversion needed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7023" y="3362732"/>
            <a:ext cx="4253537" cy="269329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18463" y="3399964"/>
            <a:ext cx="4112458" cy="232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Flag Anomalous Records (Actual Delivery &lt; Order Date)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7023" y="3650350"/>
            <a:ext cx="4253537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977640" y="3744468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977640" y="37444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6751" y="3741790"/>
            <a:ext cx="409417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Orders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COLUMN date_anomaly_flag VARCHAR(50) DEFAULT NULL;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Orders SET date_anomaly_flag = CASE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Actual_Delivery_Date &lt; Order_Date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THEN 'DELIVERY_BEFORE_ORDER'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Actual_Delivery_Date &gt;= Order_Date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THEN 'NO_ANOMALY'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666395" y="2782009"/>
            <a:ext cx="4162789" cy="26926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10912" y="2748235"/>
            <a:ext cx="3740548" cy="3120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Summary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126420"/>
              </p:ext>
            </p:extLst>
          </p:nvPr>
        </p:nvGraphicFramePr>
        <p:xfrm>
          <a:off x="4666395" y="3085044"/>
          <a:ext cx="4162789" cy="2011680"/>
        </p:xfrm>
        <a:graphic>
          <a:graphicData uri="http://schemas.openxmlformats.org/drawingml/2006/table">
            <a:tbl>
              <a:tblPr/>
              <a:tblGrid>
                <a:gridCol w="2475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Routes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Warehouses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Anomalies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Traffic Delays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Shape 12">
            <a:extLst>
              <a:ext uri="{FF2B5EF4-FFF2-40B4-BE49-F238E27FC236}">
                <a16:creationId xmlns:a16="http://schemas.microsoft.com/office/drawing/2014/main" id="{17B505F6-AF0D-CC55-6FC4-D779340BA1C8}"/>
              </a:ext>
            </a:extLst>
          </p:cNvPr>
          <p:cNvSpPr/>
          <p:nvPr/>
        </p:nvSpPr>
        <p:spPr>
          <a:xfrm>
            <a:off x="4650226" y="2306572"/>
            <a:ext cx="4174889" cy="288689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Analysis — Delay Calculation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delay in days for each order and classify 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039112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841248"/>
            <a:ext cx="203911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2316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41248"/>
            <a:ext cx="203911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841248"/>
            <a:ext cx="2039112" cy="8046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084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Delay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792223"/>
            <a:ext cx="5158292" cy="166420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14900" y="1792224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14900" y="17922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92608" y="1860228"/>
            <a:ext cx="519379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o.Warehouse_ID, o.Route_ID,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o.Order_Date, o.Expected_Delivery_Date, o.Actual_Delivery_Date,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DATEDIFF(o.Actual_Delivery_Date,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o.Expected_Delivery_Date) AS delay_days,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DATEDIFF(o.Actual_Delivery_Date, o.Expected_Delivery_Date) &gt; 0 THEN 'Delayed'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DATEDIFF(o.Actual_Delivery_Date, o.Expected_Delivery_Date) = 0 THEN 'On-Time'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'Early'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delivery_status,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o.Order_Value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 ORDER BY delay_days DESC;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74319" y="3739220"/>
            <a:ext cx="5158293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8704" y="3669792"/>
            <a:ext cx="5040068" cy="255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Result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571833"/>
              </p:ext>
            </p:extLst>
          </p:nvPr>
        </p:nvGraphicFramePr>
        <p:xfrm>
          <a:off x="263438" y="3957999"/>
          <a:ext cx="5158292" cy="530354"/>
        </p:xfrm>
        <a:graphic>
          <a:graphicData uri="http://schemas.openxmlformats.org/drawingml/2006/table">
            <a:tbl>
              <a:tblPr/>
              <a:tblGrid>
                <a:gridCol w="1031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9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Delay (days)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 (delayed)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486400" y="1792224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577840" y="17922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Chart</a:t>
            </a:r>
            <a:endParaRPr lang="en-US" sz="900" dirty="0"/>
          </a:p>
        </p:txBody>
      </p:sp>
      <p:graphicFrame>
        <p:nvGraphicFramePr>
          <p:cNvPr id="29" name="Chart 0"/>
          <p:cNvGraphicFramePr/>
          <p:nvPr>
            <p:extLst>
              <p:ext uri="{D42A27DB-BD31-4B8C-83A1-F6EECF244321}">
                <p14:modId xmlns:p14="http://schemas.microsoft.com/office/powerpoint/2010/main" val="3093602521"/>
              </p:ext>
            </p:extLst>
          </p:nvPr>
        </p:nvGraphicFramePr>
        <p:xfrm>
          <a:off x="5504688" y="2039112"/>
          <a:ext cx="3364991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26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rate: 72.67%  ·  Average delay (delayed orders only): 1.66 days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1803488542"/>
              </p:ext>
            </p:extLst>
          </p:nvPr>
        </p:nvGraphicFramePr>
        <p:xfrm>
          <a:off x="5493976" y="2799619"/>
          <a:ext cx="3555191" cy="234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STEP 2–3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— Top Routes &amp; Window Ranking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delayed routes · RANK/DENSE_RANK by warehouse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Top 10 Delayed Routes (avg delay days)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5"/>
            <a:ext cx="5029200" cy="1482205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4"/>
            <a:ext cx="4809744" cy="11849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r.Route_ID, r.Start_Location, r.End_Location,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AS total_orders,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DATEDIFF(Actual,Expected)&gt;0 THEN 1 ELSE 0 END) AS delayed,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ROUND(AVG(DATEDIFF(Actual_Delivery_Date,Expected_Delivery_Date)),2) AS avg_delay_days,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ROUND(delayed*100.0/COUNT(*),1) AS delay_pct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JOIN Orders o ON r.Route_ID=o.Route_ID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 ORDER BY avg_delay_days DESC LIMIT 10;</a:t>
            </a:r>
            <a:endParaRPr lang="en-US" sz="8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454989"/>
              </p:ext>
            </p:extLst>
          </p:nvPr>
        </p:nvGraphicFramePr>
        <p:xfrm>
          <a:off x="5488057" y="729303"/>
          <a:ext cx="3561110" cy="2197960"/>
        </p:xfrm>
        <a:graphic>
          <a:graphicData uri="http://schemas.openxmlformats.org/drawingml/2006/table">
            <a:tbl>
              <a:tblPr/>
              <a:tblGrid>
                <a:gridCol w="660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Jaipur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RT_09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435734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513096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623716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714160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RT_12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496099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274859" y="2799619"/>
            <a:ext cx="5103471" cy="42662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274859" y="2757710"/>
            <a:ext cx="5071113" cy="426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Window : Rank Orders by Delay within each Warehouse Functions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74859" y="3149507"/>
            <a:ext cx="5103471" cy="193575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801139" y="2916417"/>
            <a:ext cx="577730" cy="22618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830721" y="2899524"/>
            <a:ext cx="577730" cy="243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338867" y="3333781"/>
            <a:ext cx="4994774" cy="1683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w.City,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DATEDIFF(o.Actual_Delivery_Date, o.Expected_Delivery_Date) AS delay_days,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      OVER (PARTITION BY o.Warehouse_ID ORDER BY DATEDIFF(o.Actual_Delivery_Date, o.Expected_Delivery_Date)DESC) AS delay_rank,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DENSE_RANK() OVER (PARTITION BY o.Warehouse_ID ORDER BY DATEDIFF(o.Actual_Delivery_Date, o.Expected_Delivery_Date)DESC) AS dense_ranking,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ROW_NUMBER() OVER (PARTITION BY o.Warehouse_ID ORDER BY DATEDIFF(o.Actual_Delivery_Date, o.Expected_Delivery_Date)DESC) AS row_num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 JOIN Warehouses w ON o.Warehouse_ID = w.Warehouse_ID ORDER BY w.City, delay_rank;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— Efficiency Calculation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 · Traffic delay · Distance/Time efficiency ratio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5029200" cy="179291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00600" y="850392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00600" y="8503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960120"/>
            <a:ext cx="48097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CONCAT(r.Start_Location,' →',r.End_Location) AS route,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r.Distance_KM,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r.Average_Travel_Time_Min,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r.Traffic_Delay_Min AS avg_traffic_delay_min,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ROUND(AVG(DATEDIFF(o.Actual_Delivery_Date, o.Order_Date)),2)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avg_delivery_time_days,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ROUND(r.Distance_KM / r.Average_Travel_Time_Min, 2)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efficiency_ratio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LEFT JOIN Orders o ON r.Route_ID = o.Route_ID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 ORDER BY efficiency_ratio DESC;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20040" y="2830068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83006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Routes — Top &amp; Bottom Efficiency (sample set)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129492"/>
              </p:ext>
            </p:extLst>
          </p:nvPr>
        </p:nvGraphicFramePr>
        <p:xfrm>
          <a:off x="320040" y="3076956"/>
          <a:ext cx="5029201" cy="1975104"/>
        </p:xfrm>
        <a:graphic>
          <a:graphicData uri="http://schemas.openxmlformats.org/drawingml/2006/table">
            <a:tbl>
              <a:tblPr/>
              <a:tblGrid>
                <a:gridCol w="634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0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→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 KM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Jaipur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Jaipur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 → 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394960" y="850392"/>
            <a:ext cx="347472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577840" y="8503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 — All Routes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2347127449"/>
              </p:ext>
            </p:extLst>
          </p:nvPr>
        </p:nvGraphicFramePr>
        <p:xfrm>
          <a:off x="5486400" y="1088136"/>
          <a:ext cx="3383280" cy="4055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145996"/>
            <a:ext cx="1024128" cy="238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STEP 2–3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— Worst Routes &amp; Recommendations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worst efficiency routes · &gt;20% delay routes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3 Worst Efficiency Routes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6"/>
            <a:ext cx="4206240" cy="148361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3"/>
            <a:ext cx="3986784" cy="1237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r.Route_ID,    CONCAT(r.Start_Location, ' → ', r.End_Location)             AS route,    COUNT(o.Order_ID)                                           AS total_orders_in_route,    r.Distance_KM,    r.Average_Travel_Time_Min,    ROUND(r.Distance_KM / r.Average_Travel_Time_Min,2)         AS efficiency_ratio,    'WORST Efficiency - Need Attention'   AS recommendation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LEFT JOIN Orders o ON r.Route_ID = o.Route_ID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r.Route_ID, r.Start_Location, r.End_Location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efficiency_ratio ASCLIMIT 3;</a:t>
            </a:r>
            <a:endParaRPr lang="en-US" sz="8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364412"/>
              </p:ext>
            </p:extLst>
          </p:nvPr>
        </p:nvGraphicFramePr>
        <p:xfrm>
          <a:off x="274320" y="2927616"/>
          <a:ext cx="4160520" cy="112774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9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Jaipur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0.73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 → Mumbai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1.00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Mumbai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latin typeface="+mn-lt"/>
                        </a:rPr>
                        <a:t>1.13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66344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5488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Routes with &gt;20% Delayed Shipments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1088136"/>
            <a:ext cx="4206240" cy="12634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773168" y="1197864"/>
            <a:ext cx="39867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AS total_shipments,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DATEDIFF(Actual,Expected)&gt;0 THEN 1 ELSE 0 END) AS delayed,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ROUND(delayed*100.0/COUNT(*),1) AS delay_pct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JOIN Orders o ON r.Route_ID=o.Route_ID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delay_pct &gt; 20 ORDER BY delay_pct DESC;</a:t>
            </a:r>
            <a:endParaRPr lang="en-US" sz="82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11723"/>
              </p:ext>
            </p:extLst>
          </p:nvPr>
        </p:nvGraphicFramePr>
        <p:xfrm>
          <a:off x="4672405" y="2589288"/>
          <a:ext cx="3931920" cy="24841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8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→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Hyderabad → Jaipur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54.5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Pune → Pune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40.0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RT_14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Mumbai → 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35.3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Bengaluru → Bengaluru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33.3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Mumbai → Lucknow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33.3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Ahmedabad → 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31.3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32505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Lucknow → Bengaluru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835203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Mumbai → 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642479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Ahmedabad → 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29.4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7024"/>
                  </a:ext>
                </a:extLst>
              </a:tr>
            </a:tbl>
          </a:graphicData>
        </a:graphic>
      </p:graphicFrame>
      <p:sp>
        <p:nvSpPr>
          <p:cNvPr id="22" name="Shape 10">
            <a:extLst>
              <a:ext uri="{FF2B5EF4-FFF2-40B4-BE49-F238E27FC236}">
                <a16:creationId xmlns:a16="http://schemas.microsoft.com/office/drawing/2014/main" id="{DFA436F3-7316-5A9D-B23D-E8360A760B08}"/>
              </a:ext>
            </a:extLst>
          </p:cNvPr>
          <p:cNvSpPr/>
          <p:nvPr/>
        </p:nvSpPr>
        <p:spPr>
          <a:xfrm>
            <a:off x="4672405" y="2366031"/>
            <a:ext cx="3931919" cy="21613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E3BE4836-3732-7E6F-7FD7-5E1EF2C2587A}"/>
              </a:ext>
            </a:extLst>
          </p:cNvPr>
          <p:cNvSpPr/>
          <p:nvPr/>
        </p:nvSpPr>
        <p:spPr>
          <a:xfrm>
            <a:off x="4767880" y="2351544"/>
            <a:ext cx="3616545" cy="24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Routes — Top &amp; Bottom Efficiency ( 9 result set sample)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595A62-45DE-358B-662D-5D2CC8281DF0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AD0B86-9C67-9FF7-DB0B-E95FB568A192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A3E4BA-5F5B-18D6-D903-0521535F3B2D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B4392B-1ED3-A7C7-C1DD-21227C04BC34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STEP 4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E46208-0F47-CDBA-55D6-8268A4F74A7A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— Worst Routes &amp; Recommendations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F69F69-B4D4-58B1-1B9B-554001D9F5F4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CTE-based optimization flags</a:t>
            </a:r>
            <a:endParaRPr lang="en-US" sz="10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3084DAF5-EFFB-95AD-EDDB-F8DEBFB3F736}"/>
              </a:ext>
            </a:extLst>
          </p:cNvPr>
          <p:cNvSpPr/>
          <p:nvPr/>
        </p:nvSpPr>
        <p:spPr>
          <a:xfrm>
            <a:off x="228600" y="804672"/>
            <a:ext cx="5029200" cy="2834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A398C48D-6358-14AC-1CBB-45A91A9F7DB4}"/>
              </a:ext>
            </a:extLst>
          </p:cNvPr>
          <p:cNvSpPr/>
          <p:nvPr/>
        </p:nvSpPr>
        <p:spPr>
          <a:xfrm>
            <a:off x="182880" y="850392"/>
            <a:ext cx="26986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CTE-based Recommendation Engine</a:t>
            </a:r>
            <a:endParaRPr lang="en-US" sz="9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31BDB0A-1B38-55EF-96E4-527AF3F30DA7}"/>
              </a:ext>
            </a:extLst>
          </p:cNvPr>
          <p:cNvSpPr/>
          <p:nvPr/>
        </p:nvSpPr>
        <p:spPr>
          <a:xfrm>
            <a:off x="228600" y="1088136"/>
            <a:ext cx="5029200" cy="32049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A7F7418D-FFCE-1718-B503-AA25EE931D08}"/>
              </a:ext>
            </a:extLst>
          </p:cNvPr>
          <p:cNvSpPr/>
          <p:nvPr/>
        </p:nvSpPr>
        <p:spPr>
          <a:xfrm>
            <a:off x="475488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CC2082F4-C490-B773-76C7-BF471243CA53}"/>
              </a:ext>
            </a:extLst>
          </p:cNvPr>
          <p:cNvSpPr/>
          <p:nvPr/>
        </p:nvSpPr>
        <p:spPr>
          <a:xfrm>
            <a:off x="475488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A4480AD-7E67-96FD-AB26-2CCA6B0F1B48}"/>
              </a:ext>
            </a:extLst>
          </p:cNvPr>
          <p:cNvSpPr/>
          <p:nvPr/>
        </p:nvSpPr>
        <p:spPr>
          <a:xfrm>
            <a:off x="338328" y="1197864"/>
            <a:ext cx="4809744" cy="285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route_metrics AS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ROUND(r.Distance_KM/r.Average_Travel_Time_Min,2) AS efficiency_ratio,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ROUND(SUM(CASE WHEN delay_days&gt;0 THEN 1 ELSE 0 END)*100.0/COUNT(*),1) AS delay_pct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Routes r LEFT JOIN Orders o ON r.Route_ID=o.Route_ID GROUP BY r.Route_ID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AS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 RANK() OVER (ORDER BY efficiency_ratio ASC) AS eff_rank FROM route_metrics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Route_ID, efficiency_ratio, delay_pct,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eff_rank&lt;=3 AND delay_pct&gt;20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     THEN 'HIGH PRIORITY: Reroute or add resources'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eff_rank&lt;=3   THEN 'MEDIUM: Review travel time'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delay_pct&gt;40  THEN 'HIGH PRIORITY: Investigate agents &amp; traffic'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delay_pct&gt;20  THEN 'MONITOR: Assign experienced agents'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'ACCEPTABLE'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recommendation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ranked WHERE eff_rank&lt;=3 OR delay_pct&gt;20 ORDER BY eff_rank, delay_pct DESC;</a:t>
            </a:r>
            <a:endParaRPr lang="en-US" sz="820" dirty="0"/>
          </a:p>
        </p:txBody>
      </p:sp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F75A8949-8FBC-2C3F-D08A-BCE0B94AA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474448"/>
              </p:ext>
            </p:extLst>
          </p:nvPr>
        </p:nvGraphicFramePr>
        <p:xfrm>
          <a:off x="5640760" y="804672"/>
          <a:ext cx="3274640" cy="4193936"/>
        </p:xfrm>
        <a:graphic>
          <a:graphicData uri="http://schemas.openxmlformats.org/drawingml/2006/table">
            <a:tbl>
              <a:tblPr/>
              <a:tblGrid>
                <a:gridCol w="71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1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0.73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54.5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🔴 HIGH PRIORITY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35.3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🟠 MEDIUM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15.0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33.3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1.83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544165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28.6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608830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1.92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33.3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4135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2.13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31.3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435225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2.46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40.0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82978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2.87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22.2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612902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3.73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29.4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687903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4.87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23.5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509390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4.94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21.1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17590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4.98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27.8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007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07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. STEP 1-2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slowest · Total vs delayed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Top 3 Highest Avg Processing Time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6"/>
            <a:ext cx="4206240" cy="128623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4"/>
            <a:ext cx="398678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w.Warehouse_ID, w.Warehouse_Name, w.City,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w.Average_Processing_Time_Min,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AS total_orders_handled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Warehouses w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w.Warehouse_ID = o.Warehouse_ID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w.Warehouse_ID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w.Average_Processing_Time_Min DESC LIMIT 3;</a:t>
            </a:r>
            <a:endParaRPr lang="en-US" sz="8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758763"/>
              </p:ext>
            </p:extLst>
          </p:nvPr>
        </p:nvGraphicFramePr>
        <p:xfrm>
          <a:off x="4736592" y="1041571"/>
          <a:ext cx="4160520" cy="1005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 FC Chennai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 FC Hyderabad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 FC Lucknow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24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274320" y="2493238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365760" y="249323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Total vs Delayed per Warehouse</a:t>
            </a:r>
            <a:endParaRPr lang="en-US" sz="90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EA4191BC-E3E3-8555-3021-2E82B71444CA}"/>
              </a:ext>
            </a:extLst>
          </p:cNvPr>
          <p:cNvSpPr/>
          <p:nvPr/>
        </p:nvSpPr>
        <p:spPr>
          <a:xfrm>
            <a:off x="274320" y="2731866"/>
            <a:ext cx="4206240" cy="235677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0356D9C7-7EB4-5584-7A2F-24D505EC1676}"/>
              </a:ext>
            </a:extLst>
          </p:cNvPr>
          <p:cNvSpPr/>
          <p:nvPr/>
        </p:nvSpPr>
        <p:spPr>
          <a:xfrm>
            <a:off x="384048" y="2840708"/>
            <a:ext cx="4096512" cy="2211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w.Warehouse_ID,    w.Warehouse_Name,    w.City,    w.Average_Processing_Time_Min, COUNT(o.Order_ID) AS total_shipments,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&gt; 0 THEN 1 ELSE 0 END)                      AS delayed_shipments,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&lt;= 0 THEN 1 ELSE 0 END)                      AS on_time_shipments,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ROUND(SUM(CASE WHEN DATEDIFF(o.Actual_Delivery_Date, o.Expected_Delivery_Date) &gt; 0 THEN 1 ELSE 0 END) * 100.0 / NULLIF(COUNT(o.Order_ID), 0), 1) AS delay_pct,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ROUND(SUM(CASE WHEN DATEDIFF(o.Actual_Delivery_Date, o.Expected_Delivery_Date) &lt;= 0 THEN 1 ELSE 0 END) * 100.0 / NULLIF(COUNT(o.Order_ID), 0), 1) AS on_time_pct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Warehouses w LEFT JOIN Orders o ON w.Warehouse_ID = o.Warehouse_ID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w.Warehouse_ID ORDER BY on_time_pct DESC;</a:t>
            </a:r>
            <a:endParaRPr lang="en-US" sz="82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63318644-D24A-8D47-4A92-EE69688E0165}"/>
              </a:ext>
            </a:extLst>
          </p:cNvPr>
          <p:cNvSpPr/>
          <p:nvPr/>
        </p:nvSpPr>
        <p:spPr>
          <a:xfrm>
            <a:off x="3977640" y="2749270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4885F0D1-9354-A174-902C-45C9B28F8320}"/>
              </a:ext>
            </a:extLst>
          </p:cNvPr>
          <p:cNvSpPr/>
          <p:nvPr/>
        </p:nvSpPr>
        <p:spPr>
          <a:xfrm>
            <a:off x="3977640" y="274927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graphicFrame>
        <p:nvGraphicFramePr>
          <p:cNvPr id="15" name="Chart 2">
            <a:extLst>
              <a:ext uri="{FF2B5EF4-FFF2-40B4-BE49-F238E27FC236}">
                <a16:creationId xmlns:a16="http://schemas.microsoft.com/office/drawing/2014/main" id="{E7FBBCF6-706E-7810-1F2F-C26169C93D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967378"/>
              </p:ext>
            </p:extLst>
          </p:nvPr>
        </p:nvGraphicFramePr>
        <p:xfrm>
          <a:off x="4736592" y="2493238"/>
          <a:ext cx="3930127" cy="2558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0">
            <a:extLst>
              <a:ext uri="{FF2B5EF4-FFF2-40B4-BE49-F238E27FC236}">
                <a16:creationId xmlns:a16="http://schemas.microsoft.com/office/drawing/2014/main" id="{2CE7C150-87F7-4376-7405-621CE2F90E30}"/>
              </a:ext>
            </a:extLst>
          </p:cNvPr>
          <p:cNvSpPr/>
          <p:nvPr/>
        </p:nvSpPr>
        <p:spPr>
          <a:xfrm>
            <a:off x="4767880" y="2259806"/>
            <a:ext cx="3931919" cy="21613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3BCE3A6-BEA0-5DD4-E3AF-37093109EB15}"/>
              </a:ext>
            </a:extLst>
          </p:cNvPr>
          <p:cNvSpPr/>
          <p:nvPr/>
        </p:nvSpPr>
        <p:spPr>
          <a:xfrm>
            <a:off x="4863355" y="2245319"/>
            <a:ext cx="3616545" cy="24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wise Total vs Delayed  Shipments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506DEF8F-01BA-EC37-3AC6-5CF7F2F2880D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A7247E4B-2605-1FE8-3B44-A50049C600BE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936EA99A-3522-710A-3CB2-33D6B78826AD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78860175-04F7-E334-7A14-C6ECC30DBC2D}"/>
              </a:ext>
            </a:extLst>
          </p:cNvPr>
          <p:cNvSpPr/>
          <p:nvPr/>
        </p:nvSpPr>
        <p:spPr>
          <a:xfrm>
            <a:off x="182880" y="914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. STEP 3</a:t>
            </a:r>
            <a:endParaRPr lang="en-US" sz="9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B2ACB300-6F7A-8CA1-60FE-7E409B703E1F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</a:t>
            </a:r>
            <a:endParaRPr lang="en-US" sz="19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82A13C09-D5ED-E053-870F-F35368756418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CTE · On-time ranking</a:t>
            </a:r>
            <a:endParaRPr lang="en-US" sz="10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C331C23C-5E28-7F9B-43A4-CB051A2BE567}"/>
              </a:ext>
            </a:extLst>
          </p:cNvPr>
          <p:cNvSpPr/>
          <p:nvPr/>
        </p:nvSpPr>
        <p:spPr>
          <a:xfrm>
            <a:off x="445520" y="281377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On-Time % Ranking</a:t>
            </a:r>
            <a:endParaRPr lang="en-US" sz="900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CDD2FA55-8878-F6E6-B870-81C1D74D82DB}"/>
              </a:ext>
            </a:extLst>
          </p:cNvPr>
          <p:cNvSpPr/>
          <p:nvPr/>
        </p:nvSpPr>
        <p:spPr>
          <a:xfrm>
            <a:off x="315660" y="850392"/>
            <a:ext cx="44046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2EE3279A-A341-9C37-A413-BCA61B1E07A9}"/>
              </a:ext>
            </a:extLst>
          </p:cNvPr>
          <p:cNvSpPr/>
          <p:nvPr/>
        </p:nvSpPr>
        <p:spPr>
          <a:xfrm>
            <a:off x="407100" y="850392"/>
            <a:ext cx="43089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Bottleneck CTE (Proc &gt; 79.4 min avg)</a:t>
            </a:r>
            <a:endParaRPr lang="en-US" sz="900" dirty="0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FFC11B9A-90B7-4767-C9F1-D93D8422F374}"/>
              </a:ext>
            </a:extLst>
          </p:cNvPr>
          <p:cNvSpPr/>
          <p:nvPr/>
        </p:nvSpPr>
        <p:spPr>
          <a:xfrm>
            <a:off x="315660" y="1088136"/>
            <a:ext cx="4404680" cy="28575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E6C99D70-418F-3806-7A18-5B619774B02F}"/>
              </a:ext>
            </a:extLst>
          </p:cNvPr>
          <p:cNvSpPr/>
          <p:nvPr/>
        </p:nvSpPr>
        <p:spPr>
          <a:xfrm>
            <a:off x="4018979" y="1088136"/>
            <a:ext cx="526647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5BEE0D82-7DA3-01B2-3BAC-660ABC57F271}"/>
              </a:ext>
            </a:extLst>
          </p:cNvPr>
          <p:cNvSpPr/>
          <p:nvPr/>
        </p:nvSpPr>
        <p:spPr>
          <a:xfrm>
            <a:off x="4018979" y="1088136"/>
            <a:ext cx="5266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166EF30A-391B-5EBF-C98F-36BDCA4DECE1}"/>
              </a:ext>
            </a:extLst>
          </p:cNvPr>
          <p:cNvSpPr/>
          <p:nvPr/>
        </p:nvSpPr>
        <p:spPr>
          <a:xfrm>
            <a:off x="425387" y="1197864"/>
            <a:ext cx="4174871" cy="265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global_avg AS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ROUND(AVG(Average_Processing_Time_Min),2) AS global_avg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Warehouses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warehouse_summary AS (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 w.Warehouse_ID, w.City, w.Average_Processing_Time_Min, COUNT(o.Order_ID) AS total_orders,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&gt; 0 THEN 1 ELSE 0 END) AS delayed_orders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Warehouses w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w.Warehouse_ID = o.Warehouse_ID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w.Warehouse_ID)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ws.City, ws.Average_Processing_Time_Min,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ws.Average_Processing_Time_Min - ga.global_avg AS excess_min,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'BOTTLENECK' AS warehouse_status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warehouse_summary ws CROSS JOIN global_avg ga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ws.Average_Processing_Time_Min &gt; ga.global_avg;</a:t>
            </a:r>
            <a:endParaRPr lang="en-US" sz="820" dirty="0"/>
          </a:p>
        </p:txBody>
      </p:sp>
      <p:graphicFrame>
        <p:nvGraphicFramePr>
          <p:cNvPr id="55" name="Table 1">
            <a:extLst>
              <a:ext uri="{FF2B5EF4-FFF2-40B4-BE49-F238E27FC236}">
                <a16:creationId xmlns:a16="http://schemas.microsoft.com/office/drawing/2014/main" id="{2FEC4AE0-A00E-EA31-8364-1615E7522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690668"/>
              </p:ext>
            </p:extLst>
          </p:nvPr>
        </p:nvGraphicFramePr>
        <p:xfrm>
          <a:off x="4919799" y="1112029"/>
          <a:ext cx="3997234" cy="1760220"/>
        </p:xfrm>
        <a:graphic>
          <a:graphicData uri="http://schemas.openxmlformats.org/drawingml/2006/table">
            <a:tbl>
              <a:tblPr/>
              <a:tblGrid>
                <a:gridCol w="1065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3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Chennai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37.60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Hyderabad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Lucknow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21.60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Kolkata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95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15.60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310052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5600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Ahmedabad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81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1.60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389460"/>
                  </a:ext>
                </a:extLst>
              </a:tr>
            </a:tbl>
          </a:graphicData>
        </a:graphic>
      </p:graphicFrame>
      <p:sp>
        <p:nvSpPr>
          <p:cNvPr id="4" name="Shape 10">
            <a:extLst>
              <a:ext uri="{FF2B5EF4-FFF2-40B4-BE49-F238E27FC236}">
                <a16:creationId xmlns:a16="http://schemas.microsoft.com/office/drawing/2014/main" id="{54D1BDF7-F7A8-BBD2-E172-762CED0E9BFC}"/>
              </a:ext>
            </a:extLst>
          </p:cNvPr>
          <p:cNvSpPr/>
          <p:nvPr/>
        </p:nvSpPr>
        <p:spPr>
          <a:xfrm>
            <a:off x="4919799" y="895898"/>
            <a:ext cx="3997234" cy="17955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B920CF62-E16D-6C7B-D502-A6E498D8DBBB}"/>
              </a:ext>
            </a:extLst>
          </p:cNvPr>
          <p:cNvSpPr/>
          <p:nvPr/>
        </p:nvSpPr>
        <p:spPr>
          <a:xfrm>
            <a:off x="5015274" y="881411"/>
            <a:ext cx="3616545" cy="24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CTE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AA3C9-6710-DA86-D74B-101C0C08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C15CA5C2-3B2E-6CE6-6A0B-8B1791E87A2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50A5FDA1-01D6-159B-72CF-8B7EA60AE86E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CD09A3C5-E4C3-31CD-92C8-7E16F00A78C6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F762114D-3B33-91A6-D845-046EF8C024B0}"/>
              </a:ext>
            </a:extLst>
          </p:cNvPr>
          <p:cNvSpPr/>
          <p:nvPr/>
        </p:nvSpPr>
        <p:spPr>
          <a:xfrm>
            <a:off x="182880" y="914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. STEP 4</a:t>
            </a:r>
            <a:endParaRPr lang="en-US" sz="9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2F350358-A7FE-A83E-1593-C1995C70710D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</a:t>
            </a:r>
            <a:endParaRPr lang="en-US" sz="19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1ADB6688-BC06-7C93-B850-14799E9AF606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On-time ranking</a:t>
            </a:r>
            <a:endParaRPr lang="en-US" sz="1000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1BF7741D-76E7-16A0-B6D8-3ABC5C00A725}"/>
              </a:ext>
            </a:extLst>
          </p:cNvPr>
          <p:cNvSpPr/>
          <p:nvPr/>
        </p:nvSpPr>
        <p:spPr>
          <a:xfrm>
            <a:off x="291379" y="1029749"/>
            <a:ext cx="4419088" cy="23698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3819E8D3-3DE4-335A-D15E-28A5CA656933}"/>
              </a:ext>
            </a:extLst>
          </p:cNvPr>
          <p:cNvSpPr/>
          <p:nvPr/>
        </p:nvSpPr>
        <p:spPr>
          <a:xfrm>
            <a:off x="421239" y="1029749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On-Time % Ranking</a:t>
            </a:r>
            <a:endParaRPr lang="en-US" sz="900" dirty="0"/>
          </a:p>
        </p:txBody>
      </p:sp>
      <p:graphicFrame>
        <p:nvGraphicFramePr>
          <p:cNvPr id="48" name="Chart 0">
            <a:extLst>
              <a:ext uri="{FF2B5EF4-FFF2-40B4-BE49-F238E27FC236}">
                <a16:creationId xmlns:a16="http://schemas.microsoft.com/office/drawing/2014/main" id="{A6AB4B6D-8AAC-30F9-3A59-0F3571496D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9647301"/>
              </p:ext>
            </p:extLst>
          </p:nvPr>
        </p:nvGraphicFramePr>
        <p:xfrm>
          <a:off x="4932729" y="1250665"/>
          <a:ext cx="3997234" cy="2424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Text 15">
            <a:extLst>
              <a:ext uri="{FF2B5EF4-FFF2-40B4-BE49-F238E27FC236}">
                <a16:creationId xmlns:a16="http://schemas.microsoft.com/office/drawing/2014/main" id="{796877FE-7EBD-819E-5A8E-556A6CE95378}"/>
              </a:ext>
            </a:extLst>
          </p:cNvPr>
          <p:cNvSpPr/>
          <p:nvPr/>
        </p:nvSpPr>
        <p:spPr>
          <a:xfrm>
            <a:off x="407100" y="850392"/>
            <a:ext cx="43089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Bottleneck CTE (Proc &gt; 79.4 min avg)</a:t>
            </a:r>
            <a:endParaRPr lang="en-US" sz="900" dirty="0"/>
          </a:p>
        </p:txBody>
      </p:sp>
      <p:sp>
        <p:nvSpPr>
          <p:cNvPr id="61" name="Shape 16">
            <a:extLst>
              <a:ext uri="{FF2B5EF4-FFF2-40B4-BE49-F238E27FC236}">
                <a16:creationId xmlns:a16="http://schemas.microsoft.com/office/drawing/2014/main" id="{F6842033-CFC5-60C2-368B-AB8A50ACD2D5}"/>
              </a:ext>
            </a:extLst>
          </p:cNvPr>
          <p:cNvSpPr/>
          <p:nvPr/>
        </p:nvSpPr>
        <p:spPr>
          <a:xfrm>
            <a:off x="291379" y="1266730"/>
            <a:ext cx="4419088" cy="2424525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17">
            <a:extLst>
              <a:ext uri="{FF2B5EF4-FFF2-40B4-BE49-F238E27FC236}">
                <a16:creationId xmlns:a16="http://schemas.microsoft.com/office/drawing/2014/main" id="{7F49F161-423A-E1AC-239C-E4A779EE2B0E}"/>
              </a:ext>
            </a:extLst>
          </p:cNvPr>
          <p:cNvSpPr/>
          <p:nvPr/>
        </p:nvSpPr>
        <p:spPr>
          <a:xfrm>
            <a:off x="4193139" y="1266731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18">
            <a:extLst>
              <a:ext uri="{FF2B5EF4-FFF2-40B4-BE49-F238E27FC236}">
                <a16:creationId xmlns:a16="http://schemas.microsoft.com/office/drawing/2014/main" id="{7857F4AC-A0E0-072F-B8EE-30256A6DD39D}"/>
              </a:ext>
            </a:extLst>
          </p:cNvPr>
          <p:cNvSpPr/>
          <p:nvPr/>
        </p:nvSpPr>
        <p:spPr>
          <a:xfrm>
            <a:off x="4193139" y="1266731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C09945F1-3CBF-76A0-719E-A518EB77AFB7}"/>
              </a:ext>
            </a:extLst>
          </p:cNvPr>
          <p:cNvSpPr/>
          <p:nvPr/>
        </p:nvSpPr>
        <p:spPr>
          <a:xfrm>
            <a:off x="401107" y="1376458"/>
            <a:ext cx="4226372" cy="1910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w.Warehouse_ID, w.City, COUNT(o.Order_ID)                                            AS total_shipments,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&lt;= 0 THEN 1 ELSE 0 END)                      AS on_time_count,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ROUND(SUM(CASE WHEN DATEDIFF(o.Actual_Delivery_Date, o.Expected_Delivery_Date) &lt;= 0  THEN 1 ELSE 0 END) * 100.0  / NULLIF(COUNT(o.Order_ID), 0), 1) AS on_time_pct,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OVER ( ORDER BY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&lt;= 0  THEN 1 ELSE 0 END) * 100.0 / NULLIF(COUNT(o.Order_ID), 0) DESC ) AS performance_rank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Warehouses w LEFT JOIN Orders o ON w.Warehouse_ID = o.Warehouse_ID GROUP BY w.Warehouse_ID ORDER BY performance_rank; </a:t>
            </a:r>
            <a:endParaRPr lang="en-US" sz="820" dirty="0"/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BEAC6B93-8F0D-2F79-9BA4-3C9431D8AD2D}"/>
              </a:ext>
            </a:extLst>
          </p:cNvPr>
          <p:cNvSpPr/>
          <p:nvPr/>
        </p:nvSpPr>
        <p:spPr>
          <a:xfrm>
            <a:off x="4932729" y="1029914"/>
            <a:ext cx="3931919" cy="21613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27CDD0DB-6C14-40F2-5359-77E1350EC0B7}"/>
              </a:ext>
            </a:extLst>
          </p:cNvPr>
          <p:cNvSpPr/>
          <p:nvPr/>
        </p:nvSpPr>
        <p:spPr>
          <a:xfrm>
            <a:off x="5028204" y="1015427"/>
            <a:ext cx="3616545" cy="24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wise Ranking by On Time %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23327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B6923B-B2B1-52ED-4B46-F0F5E2C371F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C3EBB8-AEC8-191A-A025-040D7F58039B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542945-9E74-F8BE-F2DC-D39450DB4DB3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85138EF-C58D-F1EA-CF8D-A20516372F8A}"/>
              </a:ext>
            </a:extLst>
          </p:cNvPr>
          <p:cNvSpPr/>
          <p:nvPr/>
        </p:nvSpPr>
        <p:spPr>
          <a:xfrm>
            <a:off x="256032" y="12801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. STEP 1-2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1B5982-3114-FF62-8808-3748FEA8E22A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Performance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28E51F-9C6B-F329-5DA0-63B565AAAF42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ranking · Low performers (&lt;80%)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2AA083E-4371-1FBC-CCE1-8D3FDEBD4C91}"/>
              </a:ext>
            </a:extLst>
          </p:cNvPr>
          <p:cNvSpPr/>
          <p:nvPr/>
        </p:nvSpPr>
        <p:spPr>
          <a:xfrm>
            <a:off x="274320" y="85039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30CA55-4B22-D4F7-17BD-7A6A349716CF}"/>
              </a:ext>
            </a:extLst>
          </p:cNvPr>
          <p:cNvSpPr/>
          <p:nvPr/>
        </p:nvSpPr>
        <p:spPr>
          <a:xfrm>
            <a:off x="365760" y="8503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Rank Agents per Route by On-Time %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619EF91-48B3-8F60-211A-C935343247E5}"/>
              </a:ext>
            </a:extLst>
          </p:cNvPr>
          <p:cNvSpPr/>
          <p:nvPr/>
        </p:nvSpPr>
        <p:spPr>
          <a:xfrm>
            <a:off x="274320" y="1088136"/>
            <a:ext cx="5029200" cy="16320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E6646D8-7F76-8A5A-5E34-F66D5EFFE903}"/>
              </a:ext>
            </a:extLst>
          </p:cNvPr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8B867B-E25E-7F98-A1CF-0A5D1107799F}"/>
              </a:ext>
            </a:extLst>
          </p:cNvPr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D8409D-159E-DE6D-1057-6FE0F289D24C}"/>
              </a:ext>
            </a:extLst>
          </p:cNvPr>
          <p:cNvSpPr/>
          <p:nvPr/>
        </p:nvSpPr>
        <p:spPr>
          <a:xfrm>
            <a:off x="384048" y="1197864"/>
            <a:ext cx="4809744" cy="15222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da.Agent_ID, da.Agent_Name, da.Route_ID,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CONCAT(r.Start_Location,' → ',r.End_Location) AS Route,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da.Avg_Speed_KMPH,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da.On_Time_Delivery_Percentage,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da.Experience_Years,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da.Route_ID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da.On_Time_Delivery_Percentage DESC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Rank_in_Route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da JOIN Routes r ON da.Route_ID = r.Route_ID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da.Route_ID, Rank_in_Route;</a:t>
            </a:r>
            <a:endParaRPr lang="en-US" sz="82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ECACDC0-FCE0-91D2-A5A2-659ED60685A0}"/>
              </a:ext>
            </a:extLst>
          </p:cNvPr>
          <p:cNvSpPr/>
          <p:nvPr/>
        </p:nvSpPr>
        <p:spPr>
          <a:xfrm>
            <a:off x="274321" y="2941373"/>
            <a:ext cx="3873982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110AE68-B8BC-09C8-C451-9321ED456677}"/>
              </a:ext>
            </a:extLst>
          </p:cNvPr>
          <p:cNvSpPr/>
          <p:nvPr/>
        </p:nvSpPr>
        <p:spPr>
          <a:xfrm>
            <a:off x="365760" y="2941373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Agents with On-Time % &lt; 80%</a:t>
            </a:r>
            <a:endParaRPr lang="en-US" sz="9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E8D74EB0-FA88-B98B-2D02-A9C1DDFE6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8765"/>
              </p:ext>
            </p:extLst>
          </p:nvPr>
        </p:nvGraphicFramePr>
        <p:xfrm>
          <a:off x="4405256" y="3041458"/>
          <a:ext cx="4663440" cy="1481328"/>
        </p:xfrm>
        <a:graphic>
          <a:graphicData uri="http://schemas.openxmlformats.org/drawingml/2006/table">
            <a:tbl>
              <a:tblPr/>
              <a:tblGrid>
                <a:gridCol w="6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9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5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 Kumar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Sharma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 Patel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Nair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Patel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0">
            <a:extLst>
              <a:ext uri="{FF2B5EF4-FFF2-40B4-BE49-F238E27FC236}">
                <a16:creationId xmlns:a16="http://schemas.microsoft.com/office/drawing/2014/main" id="{0DC3670C-7679-5EE6-E532-6DCFDCED2DC5}"/>
              </a:ext>
            </a:extLst>
          </p:cNvPr>
          <p:cNvSpPr/>
          <p:nvPr/>
        </p:nvSpPr>
        <p:spPr>
          <a:xfrm>
            <a:off x="5486400" y="865378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948A24E-400E-4972-326D-74547DBD82F0}"/>
              </a:ext>
            </a:extLst>
          </p:cNvPr>
          <p:cNvSpPr/>
          <p:nvPr/>
        </p:nvSpPr>
        <p:spPr>
          <a:xfrm>
            <a:off x="5577840" y="86537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Distribution</a:t>
            </a:r>
            <a:endParaRPr lang="en-US" sz="900" dirty="0"/>
          </a:p>
        </p:txBody>
      </p:sp>
      <p:graphicFrame>
        <p:nvGraphicFramePr>
          <p:cNvPr id="26" name="Chart 0">
            <a:extLst>
              <a:ext uri="{FF2B5EF4-FFF2-40B4-BE49-F238E27FC236}">
                <a16:creationId xmlns:a16="http://schemas.microsoft.com/office/drawing/2014/main" id="{D2C8FEC4-7471-9B5E-AA55-5AEE832BA0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3390985"/>
              </p:ext>
            </p:extLst>
          </p:nvPr>
        </p:nvGraphicFramePr>
        <p:xfrm>
          <a:off x="5486400" y="1103122"/>
          <a:ext cx="33832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Shape 8">
            <a:extLst>
              <a:ext uri="{FF2B5EF4-FFF2-40B4-BE49-F238E27FC236}">
                <a16:creationId xmlns:a16="http://schemas.microsoft.com/office/drawing/2014/main" id="{6840E4B3-D9D2-D2CA-713D-A7AA125C7C77}"/>
              </a:ext>
            </a:extLst>
          </p:cNvPr>
          <p:cNvSpPr/>
          <p:nvPr/>
        </p:nvSpPr>
        <p:spPr>
          <a:xfrm>
            <a:off x="274321" y="3179117"/>
            <a:ext cx="3873982" cy="134677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B5FD3919-598D-E2BC-E232-A1DD49C4FAAE}"/>
              </a:ext>
            </a:extLst>
          </p:cNvPr>
          <p:cNvSpPr/>
          <p:nvPr/>
        </p:nvSpPr>
        <p:spPr>
          <a:xfrm>
            <a:off x="3645382" y="3199174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86C91198-5F7E-F9FD-49DD-62C279EBF40E}"/>
              </a:ext>
            </a:extLst>
          </p:cNvPr>
          <p:cNvSpPr/>
          <p:nvPr/>
        </p:nvSpPr>
        <p:spPr>
          <a:xfrm>
            <a:off x="3645382" y="319917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6411E16A-A319-F6FD-5F66-379633512CDC}"/>
              </a:ext>
            </a:extLst>
          </p:cNvPr>
          <p:cNvSpPr/>
          <p:nvPr/>
        </p:nvSpPr>
        <p:spPr>
          <a:xfrm>
            <a:off x="384048" y="3288845"/>
            <a:ext cx="3611649" cy="1237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da.Agent_ID, da.Agent_Name, da.Route_ID,    CONCAT(r.Start_Location, ' → ', r.End_Location)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Assigned_Route, da.Avg_Speed_KMPH,    da.On_Time_Delivery_Percentage,    da.Experience_Years,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'NEEDS IMPROVEMENT'  AS Performance_Flag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da JOIN Routes r ON da.Route_ID = r.Route_ID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da.On_Time_Delivery_Percentage &lt; 80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da.On_Time_Delivery_Percentage ASC;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169814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20CC13-CEC4-C058-443A-4B42094457A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97ADC3-CDF5-8C2B-BBD7-1261D7132A95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A6A4EA-2057-0219-E942-3678E8A30D59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94E656-9971-08DC-2B36-F9A19F0116D7}"/>
              </a:ext>
            </a:extLst>
          </p:cNvPr>
          <p:cNvSpPr/>
          <p:nvPr/>
        </p:nvSpPr>
        <p:spPr>
          <a:xfrm>
            <a:off x="256032" y="5486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. STEP 3-4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054FA9-E6FA-D9EA-97C7-1788058DC904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Performance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2D7F5D-D667-4032-D130-A740A51643BB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Speed comparison · Recommendations</a:t>
            </a:r>
            <a:endParaRPr lang="en-US" sz="10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5B2C872-6CE4-45E3-D726-3C2E2641929D}"/>
              </a:ext>
            </a:extLst>
          </p:cNvPr>
          <p:cNvSpPr/>
          <p:nvPr/>
        </p:nvSpPr>
        <p:spPr>
          <a:xfrm>
            <a:off x="274320" y="832104"/>
            <a:ext cx="42976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6DE89CB-CE7D-31C0-3BB3-97D5B3CA01ED}"/>
              </a:ext>
            </a:extLst>
          </p:cNvPr>
          <p:cNvSpPr/>
          <p:nvPr/>
        </p:nvSpPr>
        <p:spPr>
          <a:xfrm>
            <a:off x="365760" y="8321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Top 5 vs Bottom 5 Speed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B7D484A-2006-4903-474A-689D10D862C4}"/>
              </a:ext>
            </a:extLst>
          </p:cNvPr>
          <p:cNvSpPr/>
          <p:nvPr/>
        </p:nvSpPr>
        <p:spPr>
          <a:xfrm>
            <a:off x="274320" y="1069848"/>
            <a:ext cx="4297680" cy="150190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D9294A9-86B7-E99E-2F0F-B9CE22C64D63}"/>
              </a:ext>
            </a:extLst>
          </p:cNvPr>
          <p:cNvSpPr/>
          <p:nvPr/>
        </p:nvSpPr>
        <p:spPr>
          <a:xfrm>
            <a:off x="4069080" y="1095167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4FCD8E9-BB97-6A4D-C9B3-41AD5639CB40}"/>
              </a:ext>
            </a:extLst>
          </p:cNvPr>
          <p:cNvSpPr/>
          <p:nvPr/>
        </p:nvSpPr>
        <p:spPr>
          <a:xfrm>
            <a:off x="4069080" y="10789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847CEA9-5D76-F0B7-7095-86B1C0860BE5}"/>
              </a:ext>
            </a:extLst>
          </p:cNvPr>
          <p:cNvSpPr/>
          <p:nvPr/>
        </p:nvSpPr>
        <p:spPr>
          <a:xfrm>
            <a:off x="384048" y="1179576"/>
            <a:ext cx="4103428" cy="1259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'TOP 5 (Fastest)' AS group_label,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ROUND(AVG(Avg_Speed_KMPH),2) AS avg_speed,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ROUND(AVG(On_Time_Delivery_Percentage),1) AS avg_on_time_pct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(SELECT * FROM Agents ORDER BY Avg_Speed_KMPH DESC LIMIT 5) 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'BOTTOM 5 (Slowest)', ROUND(AVG(Avg_Speed_KMPH),2),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ROUND(AVG(On_Time_Delivery_Percentage),1)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(SELECT * FROM Agents ORDER BY Avg_Speed_KMPH ASC LIMIT 5) b;</a:t>
            </a:r>
            <a:endParaRPr lang="en-US" sz="820" dirty="0"/>
          </a:p>
        </p:txBody>
      </p:sp>
      <p:graphicFrame>
        <p:nvGraphicFramePr>
          <p:cNvPr id="23" name="Table 1">
            <a:extLst>
              <a:ext uri="{FF2B5EF4-FFF2-40B4-BE49-F238E27FC236}">
                <a16:creationId xmlns:a16="http://schemas.microsoft.com/office/drawing/2014/main" id="{DD2D213B-0490-5248-6735-07D65EF48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141257"/>
              </p:ext>
            </p:extLst>
          </p:nvPr>
        </p:nvGraphicFramePr>
        <p:xfrm>
          <a:off x="5303520" y="1167906"/>
          <a:ext cx="3383280" cy="7406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On-Time%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(Fastest)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53.02 kmph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5 (Slowest)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35.32 kmph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Shape 22">
            <a:extLst>
              <a:ext uri="{FF2B5EF4-FFF2-40B4-BE49-F238E27FC236}">
                <a16:creationId xmlns:a16="http://schemas.microsoft.com/office/drawing/2014/main" id="{65B2E30D-B05D-0819-7012-968A2091ACDA}"/>
              </a:ext>
            </a:extLst>
          </p:cNvPr>
          <p:cNvSpPr/>
          <p:nvPr/>
        </p:nvSpPr>
        <p:spPr>
          <a:xfrm>
            <a:off x="274320" y="2809494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8E873277-4C11-D1C5-3186-308EAFBEFB6D}"/>
              </a:ext>
            </a:extLst>
          </p:cNvPr>
          <p:cNvSpPr/>
          <p:nvPr/>
        </p:nvSpPr>
        <p:spPr>
          <a:xfrm>
            <a:off x="365760" y="280949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Training Recommendations</a:t>
            </a:r>
            <a:endParaRPr lang="en-US" sz="9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DE9ED721-76FB-EFC7-0FCC-8A05A99A1648}"/>
              </a:ext>
            </a:extLst>
          </p:cNvPr>
          <p:cNvSpPr/>
          <p:nvPr/>
        </p:nvSpPr>
        <p:spPr>
          <a:xfrm>
            <a:off x="274320" y="3047238"/>
            <a:ext cx="5029200" cy="200482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E66F7E81-61C9-970D-FA43-F4BC25B96BDE}"/>
              </a:ext>
            </a:extLst>
          </p:cNvPr>
          <p:cNvSpPr/>
          <p:nvPr/>
        </p:nvSpPr>
        <p:spPr>
          <a:xfrm>
            <a:off x="4800600" y="3047238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3817E4F6-AA26-A1F0-806E-05886B037424}"/>
              </a:ext>
            </a:extLst>
          </p:cNvPr>
          <p:cNvSpPr/>
          <p:nvPr/>
        </p:nvSpPr>
        <p:spPr>
          <a:xfrm>
            <a:off x="4800600" y="304723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3096F3FE-F9E4-C389-8695-441441F58A31}"/>
              </a:ext>
            </a:extLst>
          </p:cNvPr>
          <p:cNvSpPr/>
          <p:nvPr/>
        </p:nvSpPr>
        <p:spPr>
          <a:xfrm>
            <a:off x="384048" y="3156966"/>
            <a:ext cx="4809744" cy="1814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Agent_ID, Agent_Name,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On_Time_Delivery_Percentage &lt; 75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'URGENT TRAINING: mandatory retraining + route reassignment'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On_Time_Delivery_Percentage &lt; 80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'TRAINING NEEDED: coaching + workload review'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Avg_Speed_KMPH &lt; 38 AND On_Time_Delivery_Percentage &gt;= 80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'WORKLOAD BALANCE: avoid long-distance routes'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On_Time_Delivery_Percentage &gt;= 90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'HIGH PERFORMER: consider mentorship or senior roles'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'STABLE'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recommendation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ORDER BY On_Time_Delivery_Percentage ASC;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1782193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. STEP 1-2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 Analytics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checkpoint · Delay reason analysis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Last Checkpoint per Order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6"/>
            <a:ext cx="4206240" cy="21625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4"/>
            <a:ext cx="3986784" cy="1869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ranked.Order_ID,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ranked.Checkpoint AS last_checkpoint,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ranked.Checkpoint_Time AS last_checkpoint_time,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ranked.Delay_Reason, ranked.Delay_Minutes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st.Order_ID, st.Checkpoint, st.Checkpoint_Time,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st.Delay_Reason, st.Delay_Minutes,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ROW_NUMBER() OVER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PARTITION BY st.Order_ID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st.Checkpoint_Time DESC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rn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Tracking st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ranked WHERE rn = 1 ORDER BY ranked.Order_ID;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74320" y="3408426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408426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00105"/>
              </p:ext>
            </p:extLst>
          </p:nvPr>
        </p:nvGraphicFramePr>
        <p:xfrm>
          <a:off x="274320" y="3646170"/>
          <a:ext cx="4206240" cy="1402080"/>
        </p:xfrm>
        <a:graphic>
          <a:graphicData uri="http://schemas.openxmlformats.org/drawingml/2006/table">
            <a:tbl>
              <a:tblPr/>
              <a:tblGrid>
                <a:gridCol w="1009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Checkpoint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Reason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FLP-ORD-0002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Hub_4_Bengaluru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2025-08-24 10:27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Hub_1_Mumbai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2025-08-28 16:54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Hub_2_Lucknow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2025-08-13 05:48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66344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75488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Most Common Delay Reasons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1088136"/>
            <a:ext cx="4206240" cy="161391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73168" y="1197864"/>
            <a:ext cx="398678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Delay_Reason,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occurrence_count,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ROUND(AVG(Delay_Minutes),1) AS avg_delay_min,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MAX(Delay_Minutes) AS max_delay_min,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ROUND(COUNT(*)*100.0/SUM(COUNT(*)) OVER(),1) AS pct_of_all_delays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Tracking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Delay_Reason != 'None' AND Delay_Reason IS NOT NULL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Delay_Reason ORDER BY occurrence_count DESC;</a:t>
            </a:r>
            <a:endParaRPr lang="en-US" sz="82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3971614772"/>
              </p:ext>
            </p:extLst>
          </p:nvPr>
        </p:nvGraphicFramePr>
        <p:xfrm>
          <a:off x="4680653" y="3140964"/>
          <a:ext cx="23774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80925"/>
              </p:ext>
            </p:extLst>
          </p:nvPr>
        </p:nvGraphicFramePr>
        <p:xfrm>
          <a:off x="7171510" y="3201923"/>
          <a:ext cx="1698170" cy="1177975"/>
        </p:xfrm>
        <a:graphic>
          <a:graphicData uri="http://schemas.openxmlformats.org/drawingml/2006/table">
            <a:tbl>
              <a:tblPr/>
              <a:tblGrid>
                <a:gridCol w="7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7B031C-CD41-303B-2E05-BBF7165E5A9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F30015-1762-FA25-ED99-C86ACDE9DF65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9C3AD9-C821-87A1-6AB9-002DE727CAD1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FB179B-B8BA-FEA2-BB4A-BCC9FA2F09C9}"/>
              </a:ext>
            </a:extLst>
          </p:cNvPr>
          <p:cNvSpPr/>
          <p:nvPr/>
        </p:nvSpPr>
        <p:spPr>
          <a:xfrm>
            <a:off x="164592" y="118872"/>
            <a:ext cx="11155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. STEP 3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710E62-2146-165F-A9AA-1C6CCE2BB4A5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 Analytics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A478D6-E5D8-A7BC-16C1-22757153365D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&gt;2 delayed checkpoints</a:t>
            </a:r>
            <a:endParaRPr lang="en-US" sz="10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350DEEF4-97E6-AD50-DB13-3BE5AE239DB6}"/>
              </a:ext>
            </a:extLst>
          </p:cNvPr>
          <p:cNvSpPr/>
          <p:nvPr/>
        </p:nvSpPr>
        <p:spPr>
          <a:xfrm>
            <a:off x="274320" y="1070597"/>
            <a:ext cx="50292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995986AD-9B2E-0481-F938-458C5CE24F69}"/>
              </a:ext>
            </a:extLst>
          </p:cNvPr>
          <p:cNvSpPr/>
          <p:nvPr/>
        </p:nvSpPr>
        <p:spPr>
          <a:xfrm>
            <a:off x="365760" y="1107173"/>
            <a:ext cx="457507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Orders with &gt;2 Delayed Checkpoints</a:t>
            </a:r>
            <a:endParaRPr lang="en-US" sz="9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64E917C4-DA3E-B73F-DCA4-A40D1A367099}"/>
              </a:ext>
            </a:extLst>
          </p:cNvPr>
          <p:cNvSpPr/>
          <p:nvPr/>
        </p:nvSpPr>
        <p:spPr>
          <a:xfrm>
            <a:off x="274320" y="1344916"/>
            <a:ext cx="5029200" cy="2320367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B929A9B7-D5C9-FC9C-EA20-11A8F9322785}"/>
              </a:ext>
            </a:extLst>
          </p:cNvPr>
          <p:cNvSpPr/>
          <p:nvPr/>
        </p:nvSpPr>
        <p:spPr>
          <a:xfrm>
            <a:off x="4800600" y="1344917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458DAD2-711F-0B13-7BF8-E699270A7D70}"/>
              </a:ext>
            </a:extLst>
          </p:cNvPr>
          <p:cNvSpPr/>
          <p:nvPr/>
        </p:nvSpPr>
        <p:spPr>
          <a:xfrm>
            <a:off x="4800600" y="1344917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FD2E7551-29EF-6891-D1CF-5E3AFA22D1ED}"/>
              </a:ext>
            </a:extLst>
          </p:cNvPr>
          <p:cNvSpPr/>
          <p:nvPr/>
        </p:nvSpPr>
        <p:spPr>
          <a:xfrm>
            <a:off x="384048" y="1454645"/>
            <a:ext cx="4809744" cy="1572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st.Order_ID,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COUNT(CASE WHEN st.Delay_Reason!='None' AND st.Delay_Minutes&gt;0 THEN 1 END)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delayed_checkpoint_count,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ROUND(AVG(CASE WHEN st.Delay_Reason!='None' THEN st.Delay_Minutes END),1)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avg_delay_min_per_checkpoint,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SUM(st.Delay_Minutes) AS total_delay_minutes,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GROUP_CONCAT(DISTINCT st.Delay_Reason SEPARATOR ' | ') AS delay_reasons_seen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Tracking st WHERE st.Delay_Reason!='None' AND st.Delay_Minutes&gt;0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st.Order_ID HAVING delayed_checkpoint_count &gt; 2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delayed_checkpoint_count DESC, total_delay_minutes DESC;</a:t>
            </a:r>
            <a:endParaRPr lang="en-US" sz="820" dirty="0"/>
          </a:p>
        </p:txBody>
      </p: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B37A5CC3-CB99-96DD-A762-443C4C269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109631"/>
              </p:ext>
            </p:extLst>
          </p:nvPr>
        </p:nvGraphicFramePr>
        <p:xfrm>
          <a:off x="5486400" y="1344917"/>
          <a:ext cx="3337560" cy="12344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FLP-ORD-0202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T|W|Tech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FLP-ORD-0128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T|W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FLP-ORD-0114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T|W|Tech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FLP-ORD-0061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T|W|Tech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587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64592" y="100584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7. STEP 1-2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KPI Reporting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delay per region · On-time 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38609"/>
            <a:ext cx="4297680" cy="265339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4937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— Average Delivery Delay per Region (Start_Location)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5"/>
            <a:ext cx="4297680" cy="173691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69080" y="1103948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69080" y="11039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3"/>
            <a:ext cx="4187952" cy="14784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r.Start_Location AS region,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AS total_orders,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DATEDIFF(Actual,Expected)&gt;0 THEN 1 ELSE 0 END)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delayed_orders,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ROUND(AVG(DATEDIFF(Actual_Delivery_Date,Expected_Delivery_Date)),2)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avg_delay_days,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ROUND(AVG(CASE WHEN delay_days&gt;0 THEN delay_days END),2) AS avg_delay_when_delayed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JOIN Orders o ON r.Route_ID=o.Route_ID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r.Start_Location ORDER BY avg_delay_days DESC;</a:t>
            </a:r>
            <a:endParaRPr lang="en-US" sz="8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755886"/>
              </p:ext>
            </p:extLst>
          </p:nvPr>
        </p:nvGraphicFramePr>
        <p:xfrm>
          <a:off x="538242" y="2994415"/>
          <a:ext cx="3119359" cy="1755444"/>
        </p:xfrm>
        <a:graphic>
          <a:graphicData uri="http://schemas.openxmlformats.org/drawingml/2006/table">
            <a:tbl>
              <a:tblPr/>
              <a:tblGrid>
                <a:gridCol w="843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2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2000" marB="72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2000" marB="72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2000" marB="72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2000" marB="72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72332" y="836484"/>
            <a:ext cx="3797348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3"/>
          <p:cNvSpPr/>
          <p:nvPr/>
        </p:nvSpPr>
        <p:spPr>
          <a:xfrm>
            <a:off x="5072332" y="845015"/>
            <a:ext cx="3175299" cy="189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— On-Time Delivery % 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72332" y="1074228"/>
            <a:ext cx="3797348" cy="175082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366760" y="1110804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66760" y="111080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82060" y="1183956"/>
            <a:ext cx="3687620" cy="180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r.Start_Location    AS region,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COUNT(o.Order_ID)             AS total_deliveries,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SUM(CASE WHEN DATEDIFF(o.Actual_Delivery_Date,                            o.Expected_Delivery_Date) &lt;= 0  THEN 1 ELSE 0 END)                                   AS on_time_deliveries,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ROUND( SUM(CASE WHEN DATEDIFF(o.Actual_Delivery_Date,                                o.Expected_Delivery_Date) &lt;= 0  THEN 1 ELSE 0 END) * 100.0  / NULLIF(COUNT(o.Order_ID), 0), 1    )                                                             AS on_time_pct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JOIN Orders o ON r.Route_ID = o.Route_ID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r.Start_LocationORDER BY on_time_pct DESC;</a:t>
            </a:r>
            <a:endParaRPr lang="en-US" sz="82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9603C18-F07E-F85B-7B4B-33BE865C4338}"/>
              </a:ext>
            </a:extLst>
          </p:cNvPr>
          <p:cNvSpPr/>
          <p:nvPr/>
        </p:nvSpPr>
        <p:spPr>
          <a:xfrm>
            <a:off x="6720476" y="3081528"/>
            <a:ext cx="21492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On-Ti Delivery %</a:t>
            </a:r>
            <a:endParaRPr lang="en-US" sz="900" dirty="0"/>
          </a:p>
        </p:txBody>
      </p:sp>
      <p:graphicFrame>
        <p:nvGraphicFramePr>
          <p:cNvPr id="28" name="Chart 0">
            <a:extLst>
              <a:ext uri="{FF2B5EF4-FFF2-40B4-BE49-F238E27FC236}">
                <a16:creationId xmlns:a16="http://schemas.microsoft.com/office/drawing/2014/main" id="{733F0DE5-1A62-B17D-3B05-D71F27194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6818315"/>
              </p:ext>
            </p:extLst>
          </p:nvPr>
        </p:nvGraphicFramePr>
        <p:xfrm>
          <a:off x="5072332" y="2886121"/>
          <a:ext cx="3782683" cy="2265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6C589B-C2D7-6A69-9D48-3CF276C4ED9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2B3B7E-97C8-ADC4-8A32-AD1BA68B3AAC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D252B1-BC7E-A687-5534-44DEF8B741B2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618733-B507-654C-F98F-686844D4AEA3}"/>
              </a:ext>
            </a:extLst>
          </p:cNvPr>
          <p:cNvSpPr/>
          <p:nvPr/>
        </p:nvSpPr>
        <p:spPr>
          <a:xfrm>
            <a:off x="164592" y="100584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7. STEP 3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98308D-FAA9-A701-20CD-007D507E5BB3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KPI Reporting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087005-0592-F27F-430E-4D8ADA7F8FAE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traffic delay per route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285E0F4-0C26-9C20-4F40-B665C63EF798}"/>
              </a:ext>
            </a:extLst>
          </p:cNvPr>
          <p:cNvSpPr/>
          <p:nvPr/>
        </p:nvSpPr>
        <p:spPr>
          <a:xfrm>
            <a:off x="274320" y="921162"/>
            <a:ext cx="4526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0B434E8-4391-8755-02D8-C3DDF6D495A6}"/>
              </a:ext>
            </a:extLst>
          </p:cNvPr>
          <p:cNvSpPr/>
          <p:nvPr/>
        </p:nvSpPr>
        <p:spPr>
          <a:xfrm>
            <a:off x="365760" y="92116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3 -- Traffic Delay Category </a:t>
            </a:r>
            <a:endParaRPr lang="en-US" sz="9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34A3E694-C1F2-D95F-6C2F-9E96EB9E4F63}"/>
              </a:ext>
            </a:extLst>
          </p:cNvPr>
          <p:cNvSpPr/>
          <p:nvPr/>
        </p:nvSpPr>
        <p:spPr>
          <a:xfrm>
            <a:off x="274320" y="1158907"/>
            <a:ext cx="4526280" cy="188868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F03A0F9-AB44-CFDF-FB1D-FFA5D8CFB752}"/>
              </a:ext>
            </a:extLst>
          </p:cNvPr>
          <p:cNvSpPr/>
          <p:nvPr/>
        </p:nvSpPr>
        <p:spPr>
          <a:xfrm>
            <a:off x="4297680" y="1188208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43DE48B-51A2-759F-5E6A-4663BE414F6B}"/>
              </a:ext>
            </a:extLst>
          </p:cNvPr>
          <p:cNvSpPr/>
          <p:nvPr/>
        </p:nvSpPr>
        <p:spPr>
          <a:xfrm>
            <a:off x="4297680" y="11882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19F42B7-79B1-F5D0-6C94-89E8F99C9862}"/>
              </a:ext>
            </a:extLst>
          </p:cNvPr>
          <p:cNvSpPr/>
          <p:nvPr/>
        </p:nvSpPr>
        <p:spPr>
          <a:xfrm>
            <a:off x="384048" y="1268634"/>
            <a:ext cx="4809744" cy="1707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r.Route_ID,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CONCAT(r.Start_Location, ' → ', r.End_Location)   AS route, r.Distance_KM,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r.Traffic_Delay_Min        AS traffic_delay_min,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ROUND(r.Traffic_Delay_Min / 60.0, 2) AS traffic_delay_hr,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WHEN r.Traffic_Delay_Min &gt;= 80 THEN 'HIGH'    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WHEN r.Traffic_Delay_Min &gt;= 40 THEN 'MODERATE'  ELSE 'LOW'    END                                                           AS traffic_category,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COUNT(o.Order_ID)            AS total_orders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Routes r LEFT JOIN Orders o ON r.Route_ID = o.Route_ID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r.Route_ID, r.Start_Location, r.End_Location, r.Distance_KM, r.Traffic_Delay_Min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r.Traffic_Delay_Min DESC;</a:t>
            </a:r>
            <a:endParaRPr lang="en-US" sz="82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73742"/>
              </p:ext>
            </p:extLst>
          </p:nvPr>
        </p:nvGraphicFramePr>
        <p:xfrm>
          <a:off x="4975412" y="734060"/>
          <a:ext cx="3985707" cy="4373035"/>
        </p:xfrm>
        <a:graphic>
          <a:graphicData uri="http://schemas.openxmlformats.org/drawingml/2006/table">
            <a:tbl>
              <a:tblPr/>
              <a:tblGrid>
                <a:gridCol w="1504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67">
                  <a:extLst>
                    <a:ext uri="{9D8B030D-6E8A-4147-A177-3AD203B41FA5}">
                      <a16:colId xmlns:a16="http://schemas.microsoft.com/office/drawing/2014/main" val="3013389104"/>
                    </a:ext>
                  </a:extLst>
                </a:gridCol>
                <a:gridCol w="1261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T="36000" marB="36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Delay Mins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T="36000" marB="36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Delay 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T="36000" marB="36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 → 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Jaipur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 → 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020937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Jaipur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87395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 → 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828618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5133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15824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79928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706120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493380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358360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412442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774523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189345"/>
                  </a:ext>
                </a:extLst>
              </a:tr>
              <a:tr h="913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 → 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445635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17577"/>
                  </a:ext>
                </a:extLst>
              </a:tr>
            </a:tbl>
          </a:graphicData>
        </a:graphic>
      </p:graphicFrame>
      <p:sp>
        <p:nvSpPr>
          <p:cNvPr id="9" name="Shape 22">
            <a:extLst>
              <a:ext uri="{FF2B5EF4-FFF2-40B4-BE49-F238E27FC236}">
                <a16:creationId xmlns:a16="http://schemas.microsoft.com/office/drawing/2014/main" id="{F071C45B-BEBC-7CFF-9E96-7AE907F4B95C}"/>
              </a:ext>
            </a:extLst>
          </p:cNvPr>
          <p:cNvSpPr/>
          <p:nvPr/>
        </p:nvSpPr>
        <p:spPr>
          <a:xfrm>
            <a:off x="284774" y="3245835"/>
            <a:ext cx="4510806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23">
            <a:extLst>
              <a:ext uri="{FF2B5EF4-FFF2-40B4-BE49-F238E27FC236}">
                <a16:creationId xmlns:a16="http://schemas.microsoft.com/office/drawing/2014/main" id="{041D32D5-D801-0382-0E5A-9F5BD79BB543}"/>
              </a:ext>
            </a:extLst>
          </p:cNvPr>
          <p:cNvSpPr/>
          <p:nvPr/>
        </p:nvSpPr>
        <p:spPr>
          <a:xfrm>
            <a:off x="309158" y="3176407"/>
            <a:ext cx="4407421" cy="255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Result</a:t>
            </a:r>
            <a:endParaRPr lang="en-US" sz="9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AB2E3C26-69CC-14AF-B966-48AD2A796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543411"/>
              </p:ext>
            </p:extLst>
          </p:nvPr>
        </p:nvGraphicFramePr>
        <p:xfrm>
          <a:off x="273893" y="3464614"/>
          <a:ext cx="4510806" cy="1591062"/>
        </p:xfrm>
        <a:graphic>
          <a:graphicData uri="http://schemas.openxmlformats.org/drawingml/2006/table">
            <a:tbl>
              <a:tblPr/>
              <a:tblGrid>
                <a:gridCol w="902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Traffic Delay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76.1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39.2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ACCEPTABLE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473453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578589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69.2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418225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56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429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Chart 1"/>
          <p:cNvGraphicFramePr/>
          <p:nvPr>
            <p:extLst>
              <p:ext uri="{D42A27DB-BD31-4B8C-83A1-F6EECF244321}">
                <p14:modId xmlns:p14="http://schemas.microsoft.com/office/powerpoint/2010/main" val="850451202"/>
              </p:ext>
            </p:extLst>
          </p:nvPr>
        </p:nvGraphicFramePr>
        <p:xfrm>
          <a:off x="4352467" y="2052021"/>
          <a:ext cx="1725604" cy="1159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2"/>
          <p:cNvGraphicFramePr/>
          <p:nvPr>
            <p:extLst>
              <p:ext uri="{D42A27DB-BD31-4B8C-83A1-F6EECF244321}">
                <p14:modId xmlns:p14="http://schemas.microsoft.com/office/powerpoint/2010/main" val="598518075"/>
              </p:ext>
            </p:extLst>
          </p:nvPr>
        </p:nvGraphicFramePr>
        <p:xfrm>
          <a:off x="6131858" y="2026203"/>
          <a:ext cx="2919934" cy="1961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2072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·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Overview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KPIs · On-time trend · Delay distribution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039112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841248"/>
            <a:ext cx="203911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2316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41248"/>
            <a:ext cx="203911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841248"/>
            <a:ext cx="203911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084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801368"/>
            <a:ext cx="4021055" cy="22140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180136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vs Delayed by Warehouse</a:t>
            </a:r>
            <a:endParaRPr lang="en-US" sz="90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373189615"/>
              </p:ext>
            </p:extLst>
          </p:nvPr>
        </p:nvGraphicFramePr>
        <p:xfrm>
          <a:off x="274320" y="2039112"/>
          <a:ext cx="4021055" cy="272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Shape 20"/>
          <p:cNvSpPr/>
          <p:nvPr/>
        </p:nvSpPr>
        <p:spPr>
          <a:xfrm>
            <a:off x="4350739" y="1801367"/>
            <a:ext cx="1725603" cy="250953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26111" y="1824227"/>
            <a:ext cx="1204589" cy="15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Split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54680" y="1801368"/>
            <a:ext cx="2897111" cy="17911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6154681" y="1735849"/>
            <a:ext cx="3099045" cy="318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by Region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518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2225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·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 Analysis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 · Delay % · Traffic category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Efficiency Ratio (Distance ÷ Travel Time)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992058329"/>
              </p:ext>
            </p:extLst>
          </p:nvPr>
        </p:nvGraphicFramePr>
        <p:xfrm>
          <a:off x="274320" y="1088136"/>
          <a:ext cx="3383281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486400" y="850392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577840" y="8503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% by Route (top 8)</a:t>
            </a:r>
            <a:endParaRPr lang="en-US" sz="9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5486400" y="1088136"/>
          <a:ext cx="338328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5486400" y="3081528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577840" y="30815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Category Distribution</a:t>
            </a:r>
            <a:endParaRPr lang="en-US" sz="900" dirty="0"/>
          </a:p>
        </p:txBody>
      </p:sp>
      <p:graphicFrame>
        <p:nvGraphicFramePr>
          <p:cNvPr id="16" name="Chart 2"/>
          <p:cNvGraphicFramePr/>
          <p:nvPr/>
        </p:nvGraphicFramePr>
        <p:xfrm>
          <a:off x="5486400" y="3319272"/>
          <a:ext cx="33832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5257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20802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- 3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Warehouse. Agent . Performance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· Bottleneck flags · Agent tiers · Speed vs on-time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1148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Processing Time vs Global Avg (79.4 min)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088136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4572000" y="850392"/>
            <a:ext cx="42976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663440" y="8503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On-Time % Ranking</a:t>
            </a:r>
            <a:endParaRPr lang="en-US" sz="9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4572000" y="1088136"/>
          <a:ext cx="42976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274320" y="3319272"/>
            <a:ext cx="41148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65760" y="33192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Tiers</a:t>
            </a:r>
            <a:endParaRPr lang="en-US" sz="900" dirty="0"/>
          </a:p>
        </p:txBody>
      </p:sp>
      <p:graphicFrame>
        <p:nvGraphicFramePr>
          <p:cNvPr id="16" name="Chart 2"/>
          <p:cNvGraphicFramePr/>
          <p:nvPr/>
        </p:nvGraphicFramePr>
        <p:xfrm>
          <a:off x="274320" y="3557016"/>
          <a:ext cx="4114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Shape 12"/>
          <p:cNvSpPr/>
          <p:nvPr/>
        </p:nvSpPr>
        <p:spPr>
          <a:xfrm>
            <a:off x="4572000" y="3319272"/>
            <a:ext cx="42976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4663440" y="33192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vs Bottom 5 Agent Speed</a:t>
            </a:r>
            <a:endParaRPr lang="en-US" sz="900" dirty="0"/>
          </a:p>
        </p:txBody>
      </p:sp>
      <p:graphicFrame>
        <p:nvGraphicFramePr>
          <p:cNvPr id="19" name="Chart 3"/>
          <p:cNvGraphicFramePr/>
          <p:nvPr/>
        </p:nvGraphicFramePr>
        <p:xfrm>
          <a:off x="4572000" y="3557016"/>
          <a:ext cx="42976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0"/>
            <a:ext cx="1005840" cy="533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83464" y="1203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- 4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Shipment tracking. Region Status.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causes · Multi-checkpoint delays · Regional KPI 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301752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Reason Breakdown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510699548"/>
              </p:ext>
            </p:extLst>
          </p:nvPr>
        </p:nvGraphicFramePr>
        <p:xfrm>
          <a:off x="274320" y="1088136"/>
          <a:ext cx="3017520" cy="1929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3474720" y="850392"/>
            <a:ext cx="539496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566160" y="85039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Minutes by Reason</a:t>
            </a:r>
            <a:endParaRPr lang="en-US" sz="900" dirty="0"/>
          </a:p>
        </p:txBody>
      </p:sp>
      <p:graphicFrame>
        <p:nvGraphicFramePr>
          <p:cNvPr id="13" name="Chart 1"/>
          <p:cNvGraphicFramePr/>
          <p:nvPr>
            <p:extLst>
              <p:ext uri="{D42A27DB-BD31-4B8C-83A1-F6EECF244321}">
                <p14:modId xmlns:p14="http://schemas.microsoft.com/office/powerpoint/2010/main" val="4289816239"/>
              </p:ext>
            </p:extLst>
          </p:nvPr>
        </p:nvGraphicFramePr>
        <p:xfrm>
          <a:off x="3474720" y="1088136"/>
          <a:ext cx="5394960" cy="1929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274320" y="313639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65760" y="31363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KPI Dashboard 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159312"/>
              </p:ext>
            </p:extLst>
          </p:nvPr>
        </p:nvGraphicFramePr>
        <p:xfrm>
          <a:off x="265176" y="3374136"/>
          <a:ext cx="5047488" cy="1728216"/>
        </p:xfrm>
        <a:graphic>
          <a:graphicData uri="http://schemas.openxmlformats.org/drawingml/2006/table">
            <a:tbl>
              <a:tblPr/>
              <a:tblGrid>
                <a:gridCol w="982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9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3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Traffic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5413248" y="3121152"/>
            <a:ext cx="3456432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5577840" y="31211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% by Region</a:t>
            </a:r>
            <a:endParaRPr lang="en-US" sz="900" dirty="0"/>
          </a:p>
        </p:txBody>
      </p:sp>
      <p:graphicFrame>
        <p:nvGraphicFramePr>
          <p:cNvPr id="19" name="Chart 2"/>
          <p:cNvGraphicFramePr/>
          <p:nvPr>
            <p:extLst>
              <p:ext uri="{D42A27DB-BD31-4B8C-83A1-F6EECF244321}">
                <p14:modId xmlns:p14="http://schemas.microsoft.com/office/powerpoint/2010/main" val="3722795795"/>
              </p:ext>
            </p:extLst>
          </p:nvPr>
        </p:nvGraphicFramePr>
        <p:xfrm>
          <a:off x="5394960" y="3374136"/>
          <a:ext cx="347472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565C0">
              <a:alpha val="35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64008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051560" cy="475488"/>
          </a:xfrm>
          <a:prstGeom prst="rect">
            <a:avLst/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05156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on-time delivery rate — 218 of 300 orders on time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618488"/>
            <a:ext cx="1051560" cy="475488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618488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RT_13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17099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route Hyderabad→Jaipur: 54.5% delay, efficiency ratio 0.73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276856"/>
            <a:ext cx="1051560" cy="47548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236829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above global avg — Chennai (117 min) biggest bottleneck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935224"/>
            <a:ext cx="1051560" cy="475488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411480" y="2935224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302666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improvement — 8 flagged URGENT (on-time &lt; %)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593592"/>
            <a:ext cx="1051560" cy="475488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593592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3685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the #1 delay cause — 387 of 686 delayed events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Logistics Route Optimization  ·  SQL  Project  ·  Tasks 1–7 Complete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5852</Words>
  <Application>Microsoft Office PowerPoint</Application>
  <PresentationFormat>On-screen Show (16:9)</PresentationFormat>
  <Paragraphs>1008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Calibri</vt:lpstr>
      <vt:lpstr>Consolas</vt:lpstr>
      <vt:lpstr>Gautami</vt:lpstr>
      <vt:lpstr>Monotype Corsiva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Logistics Route Optimization</dc:title>
  <dc:subject>PptxGenJS Presentation</dc:subject>
  <dc:creator>PptxGenJS</dc:creator>
  <cp:lastModifiedBy>Mrudula Jujjuru</cp:lastModifiedBy>
  <cp:revision>87</cp:revision>
  <dcterms:created xsi:type="dcterms:W3CDTF">2026-04-21T12:53:02Z</dcterms:created>
  <dcterms:modified xsi:type="dcterms:W3CDTF">2026-04-28T21:07:19Z</dcterms:modified>
</cp:coreProperties>
</file>